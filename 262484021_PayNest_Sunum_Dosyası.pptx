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0080625" cy="567055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Varsayılan">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384480"/>
            <a:ext cx="9069480" cy="625320"/>
          </a:xfrm>
          <a:prstGeom prst="rect">
            <a:avLst/>
          </a:prstGeom>
          <a:noFill/>
          <a:ln w="0">
            <a:noFill/>
          </a:ln>
        </p:spPr>
        <p:txBody>
          <a:bodyPr lIns="0" rIns="0" tIns="0" bIns="0" anchor="ctr">
            <a:spAutoFit/>
          </a:bodyPr>
          <a:p>
            <a:pPr indent="0" algn="ctr">
              <a:buNone/>
            </a:pPr>
            <a:endParaRPr lang="tr-TR" sz="4400" b="0" u="none" strike="noStrike">
              <a:solidFill>
                <a:srgbClr val="000000"/>
              </a:solidFill>
              <a:effectLst/>
              <a:uFillTx/>
              <a:latin typeface="Arial"/>
            </a:endParaRPr>
          </a:p>
        </p:txBody>
      </p:sp>
      <p:sp>
        <p:nvSpPr>
          <p:cNvPr id="8" name="PlaceHolder 2"/>
          <p:cNvSpPr>
            <a:spLocks noGrp="1"/>
          </p:cNvSpPr>
          <p:nvPr>
            <p:ph type="subTitle"/>
          </p:nvPr>
        </p:nvSpPr>
        <p:spPr>
          <a:xfrm>
            <a:off x="504000" y="1326600"/>
            <a:ext cx="9072000" cy="3288600"/>
          </a:xfrm>
          <a:prstGeom prst="rect">
            <a:avLst/>
          </a:prstGeom>
          <a:noFill/>
          <a:ln w="0">
            <a:noFill/>
          </a:ln>
        </p:spPr>
        <p:txBody>
          <a:bodyPr lIns="0" rIns="0" tIns="0" bIns="0" anchor="ctr">
            <a:spAutoFit/>
          </a:bodyPr>
          <a:p>
            <a:pPr indent="0" algn="ctr">
              <a:buNone/>
            </a:pPr>
            <a:endParaRPr lang="tr-TR" sz="3200" b="0" u="none" strike="noStrik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6C71B969-2946-4894-B9E6-C791E87BE035}" type="slidenum">
              <a:t>&lt;#&gt;</a:t>
            </a:fld>
          </a:p>
        </p:txBody>
      </p:sp>
      <p:sp>
        <p:nvSpPr>
          <p:cNvPr id="6" name="PlaceHolder 5"/>
          <p:cNvSpPr>
            <a:spLocks noGrp="1"/>
          </p:cNvSpPr>
          <p:nvPr>
            <p:ph type="dt" idx="3"/>
          </p:nvPr>
        </p:nvSpPr>
        <p:spPr/>
        <p:txBody>
          <a:bodyPr/>
          <a:p>
            <a:r>
              <a:rPr lang="tr-TR"/>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559800"/>
            <a:ext cx="9069480" cy="274680"/>
          </a:xfrm>
          <a:prstGeom prst="rect">
            <a:avLst/>
          </a:prstGeom>
          <a:noFill/>
          <a:ln w="0">
            <a:noFill/>
          </a:ln>
        </p:spPr>
        <p:txBody>
          <a:bodyPr lIns="0" rIns="0" tIns="0" bIns="0" anchor="ctr">
            <a:spAutoFit/>
          </a:bodyPr>
          <a:p>
            <a:pPr indent="0">
              <a:buNone/>
            </a:pPr>
            <a:r>
              <a:rPr lang="tr-TR" sz="1800" b="0" u="none" strike="noStrike">
                <a:solidFill>
                  <a:srgbClr val="000000"/>
                </a:solidFill>
                <a:effectLst/>
                <a:uFillTx/>
                <a:latin typeface="Arial"/>
              </a:rPr>
              <a:t>Ana başlık metnini düzenlemek için tıklayın</a:t>
            </a:r>
            <a:endParaRPr lang="tr-TR" sz="1800" b="0" u="none" strike="noStrike">
              <a:solidFill>
                <a:srgbClr val="000000"/>
              </a:solidFill>
              <a:effectLst/>
              <a:uFillTx/>
              <a:latin typeface="Arial"/>
            </a:endParaRPr>
          </a:p>
        </p:txBody>
      </p:sp>
      <p:sp>
        <p:nvSpPr>
          <p:cNvPr id="3" name="PlaceHolder 2"/>
          <p:cNvSpPr>
            <a:spLocks noGrp="1"/>
          </p:cNvSpPr>
          <p:nvPr>
            <p:ph type="ftr" idx="1"/>
          </p:nvPr>
        </p:nvSpPr>
        <p:spPr>
          <a:xfrm>
            <a:off x="3447360" y="5165280"/>
            <a:ext cx="3192840" cy="388440"/>
          </a:xfrm>
          <a:prstGeom prst="rect">
            <a:avLst/>
          </a:prstGeom>
          <a:noFill/>
          <a:ln w="0">
            <a:noFill/>
          </a:ln>
        </p:spPr>
        <p:txBody>
          <a:bodyPr lIns="0" rIns="0" tIns="0" bIns="0" anchor="t">
            <a:noAutofit/>
          </a:bodyPr>
          <a:lstStyle>
            <a:lvl1pPr indent="0" algn="ctr">
              <a:lnSpc>
                <a:spcPct val="100000"/>
              </a:lnSpc>
              <a:buNone/>
              <a:tabLst>
                <a:tab algn="l" pos="0"/>
              </a:tabLst>
              <a:defRPr lang="tr-TR" sz="1400" b="0" u="none" strike="noStrike">
                <a:solidFill>
                  <a:srgbClr val="000000"/>
                </a:solidFill>
                <a:effectLst/>
                <a:uFillTx/>
                <a:latin typeface="Times New Roman"/>
              </a:defRPr>
            </a:lvl1pPr>
          </a:lstStyle>
          <a:p>
            <a:pPr indent="0" algn="ctr">
              <a:lnSpc>
                <a:spcPct val="100000"/>
              </a:lnSpc>
              <a:buNone/>
              <a:tabLst>
                <a:tab algn="l" pos="0"/>
              </a:tabLst>
            </a:pPr>
            <a:r>
              <a:rPr lang="tr-TR" sz="1400" b="0" u="none" strike="noStrike">
                <a:solidFill>
                  <a:srgbClr val="000000"/>
                </a:solidFill>
                <a:effectLst/>
                <a:uFillTx/>
                <a:latin typeface="Times New Roman"/>
              </a:rPr>
              <a:t>&lt;footer&gt;</a:t>
            </a:r>
            <a:endParaRPr lang="tr-TR" sz="1400" b="0" u="none" strike="noStrike">
              <a:solidFill>
                <a:srgbClr val="000000"/>
              </a:solidFill>
              <a:effectLst/>
              <a:uFillTx/>
              <a:latin typeface="Times New Roman"/>
            </a:endParaRPr>
          </a:p>
        </p:txBody>
      </p:sp>
      <p:sp>
        <p:nvSpPr>
          <p:cNvPr id="4" name="PlaceHolder 3"/>
          <p:cNvSpPr>
            <a:spLocks noGrp="1"/>
          </p:cNvSpPr>
          <p:nvPr>
            <p:ph type="sldNum" idx="2"/>
          </p:nvPr>
        </p:nvSpPr>
        <p:spPr>
          <a:xfrm>
            <a:off x="7227360" y="5165280"/>
            <a:ext cx="2346120" cy="388440"/>
          </a:xfrm>
          <a:prstGeom prst="rect">
            <a:avLst/>
          </a:prstGeom>
          <a:noFill/>
          <a:ln w="0">
            <a:noFill/>
          </a:ln>
        </p:spPr>
        <p:txBody>
          <a:bodyPr lIns="0" rIns="0" tIns="0" bIns="0" anchor="t">
            <a:noAutofit/>
          </a:bodyPr>
          <a:lstStyle>
            <a:lvl1pPr indent="0" algn="r">
              <a:lnSpc>
                <a:spcPct val="100000"/>
              </a:lnSpc>
              <a:buNone/>
              <a:tabLst>
                <a:tab algn="l" pos="0"/>
              </a:tabLst>
              <a:defRPr lang="tr-TR" sz="1400" b="0" u="none" strike="noStrike">
                <a:solidFill>
                  <a:srgbClr val="000000"/>
                </a:solidFill>
                <a:effectLst/>
                <a:uFillTx/>
                <a:latin typeface="Times New Roman"/>
              </a:defRPr>
            </a:lvl1pPr>
          </a:lstStyle>
          <a:p>
            <a:pPr indent="0" algn="r">
              <a:lnSpc>
                <a:spcPct val="100000"/>
              </a:lnSpc>
              <a:buNone/>
              <a:tabLst>
                <a:tab algn="l" pos="0"/>
              </a:tabLst>
            </a:pPr>
            <a:fld id="{56354E60-477F-4788-AA72-62A85230B955}" type="slidenum">
              <a:rPr lang="tr-TR" sz="1400" b="0" u="none" strike="noStrike">
                <a:solidFill>
                  <a:srgbClr val="000000"/>
                </a:solidFill>
                <a:effectLst/>
                <a:uFillTx/>
                <a:latin typeface="Times New Roman"/>
              </a:rPr>
              <a:t>&lt;number&gt;</a:t>
            </a:fld>
            <a:endParaRPr lang="tr-TR" sz="1400" b="0" u="none" strike="noStrike">
              <a:solidFill>
                <a:srgbClr val="000000"/>
              </a:solidFill>
              <a:effectLst/>
              <a:uFillTx/>
              <a:latin typeface="Times New Roman"/>
            </a:endParaRPr>
          </a:p>
        </p:txBody>
      </p:sp>
      <p:sp>
        <p:nvSpPr>
          <p:cNvPr id="5" name="PlaceHolder 4"/>
          <p:cNvSpPr>
            <a:spLocks noGrp="1"/>
          </p:cNvSpPr>
          <p:nvPr>
            <p:ph type="dt" idx="3"/>
          </p:nvPr>
        </p:nvSpPr>
        <p:spPr>
          <a:xfrm>
            <a:off x="504000" y="5165280"/>
            <a:ext cx="2346120" cy="388440"/>
          </a:xfrm>
          <a:prstGeom prst="rect">
            <a:avLst/>
          </a:prstGeom>
          <a:noFill/>
          <a:ln w="0">
            <a:noFill/>
          </a:ln>
        </p:spPr>
        <p:txBody>
          <a:bodyPr lIns="0" rIns="0" tIns="0" bIns="0" anchor="t">
            <a:noAutofit/>
          </a:bodyPr>
          <a:lstStyle>
            <a:lvl1pPr indent="0">
              <a:buNone/>
              <a:defRPr lang="tr-TR" sz="1400" b="0" u="none" strike="noStrike">
                <a:solidFill>
                  <a:srgbClr val="000000"/>
                </a:solidFill>
                <a:effectLst/>
                <a:uFillTx/>
                <a:latin typeface="Times New Roman"/>
              </a:defRPr>
            </a:lvl1pPr>
          </a:lstStyle>
          <a:p>
            <a:pPr indent="0">
              <a:buNone/>
            </a:pPr>
            <a:r>
              <a:rPr lang="tr-TR" sz="1400" b="0" u="none" strike="noStrike">
                <a:solidFill>
                  <a:srgbClr val="000000"/>
                </a:solidFill>
                <a:effectLst/>
                <a:uFillTx/>
                <a:latin typeface="Times New Roman"/>
              </a:rPr>
              <a:t>&lt;date/time&gt;</a:t>
            </a:r>
            <a:endParaRPr lang="tr-TR" sz="1400" b="0" u="none" strike="noStrike">
              <a:solidFill>
                <a:srgbClr val="000000"/>
              </a:solidFill>
              <a:effectLst/>
              <a:uFillTx/>
              <a:latin typeface="Times New Roman"/>
            </a:endParaRPr>
          </a:p>
        </p:txBody>
      </p:sp>
      <p:sp>
        <p:nvSpPr>
          <p:cNvPr id="6"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tr-TR" sz="3200" b="0" u="none" strike="noStrike">
                <a:solidFill>
                  <a:srgbClr val="000000"/>
                </a:solidFill>
                <a:effectLst/>
                <a:uFillTx/>
                <a:latin typeface="Arial"/>
              </a:rPr>
              <a:t>Anahat metninin biçimini düzenlemek için tıklayın</a:t>
            </a:r>
            <a:endParaRPr lang="tr-TR" sz="32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tr-TR" sz="2800" b="0" u="none" strike="noStrike">
                <a:solidFill>
                  <a:srgbClr val="000000"/>
                </a:solidFill>
                <a:effectLst/>
                <a:uFillTx/>
                <a:latin typeface="Arial"/>
              </a:rPr>
              <a:t>İkinci Anahat Düzeyi</a:t>
            </a:r>
            <a:endParaRPr lang="tr-TR" sz="2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tr-TR" sz="2400" b="0" u="none" strike="noStrike">
                <a:solidFill>
                  <a:srgbClr val="000000"/>
                </a:solidFill>
                <a:effectLst/>
                <a:uFillTx/>
                <a:latin typeface="Arial"/>
              </a:rPr>
              <a:t>Üçüncü Anahat Düzeyi</a:t>
            </a:r>
            <a:endParaRPr lang="tr-TR" sz="24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tr-TR" sz="2000" b="0" u="none" strike="noStrike">
                <a:solidFill>
                  <a:srgbClr val="000000"/>
                </a:solidFill>
                <a:effectLst/>
                <a:uFillTx/>
                <a:latin typeface="Arial"/>
              </a:rPr>
              <a:t>Dördüncü Anahat Düzeyi</a:t>
            </a:r>
            <a:endParaRPr lang="tr-TR" sz="20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tr-TR" sz="2000" b="0" u="none" strike="noStrike">
                <a:solidFill>
                  <a:srgbClr val="000000"/>
                </a:solidFill>
                <a:effectLst/>
                <a:uFillTx/>
                <a:latin typeface="Arial"/>
              </a:rPr>
              <a:t>Beşinci Anahat Düzeyi</a:t>
            </a:r>
            <a:endParaRPr lang="tr-TR" sz="20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tr-TR" sz="2000" b="0" u="none" strike="noStrike">
                <a:solidFill>
                  <a:srgbClr val="000000"/>
                </a:solidFill>
                <a:effectLst/>
                <a:uFillTx/>
                <a:latin typeface="Arial"/>
              </a:rPr>
              <a:t>Altıncı Anahat Düzeyi</a:t>
            </a:r>
            <a:endParaRPr lang="tr-TR" sz="20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tr-TR" sz="2000" b="0" u="none" strike="noStrike">
                <a:solidFill>
                  <a:srgbClr val="000000"/>
                </a:solidFill>
                <a:effectLst/>
                <a:uFillTx/>
                <a:latin typeface="Arial"/>
              </a:rPr>
              <a:t>Yedinci Anahat Düzeyi</a:t>
            </a:r>
            <a:endParaRPr lang="tr-TR"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hyperlink" Target="https://paynest.forcescripts.com/" TargetMode="External"/><Relationship Id="rId3" Type="http://schemas.openxmlformats.org/officeDocument/2006/relationships/hyperlink" Target="mailto:test@gmail.com" TargetMode="External"/><Relationship Id="rId4"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1.png"/><Relationship Id="rId3"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2.png"/><Relationship Id="rId3"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3.png"/><Relationship Id="rId3"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4.png"/><Relationship Id="rId3"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468720" y="358200"/>
            <a:ext cx="9069480" cy="1342800"/>
          </a:xfrm>
          <a:prstGeom prst="rect">
            <a:avLst/>
          </a:prstGeom>
          <a:noFill/>
          <a:ln w="0">
            <a:noFill/>
          </a:ln>
        </p:spPr>
        <p:txBody>
          <a:bodyPr lIns="0" rIns="0" tIns="0" bIns="0" anchor="ctr">
            <a:spAutoFit/>
          </a:bodyPr>
          <a:p>
            <a:pPr indent="0" algn="ctr">
              <a:lnSpc>
                <a:spcPct val="100000"/>
              </a:lnSpc>
              <a:buNone/>
              <a:tabLst>
                <a:tab algn="l" pos="0"/>
              </a:tabLst>
            </a:pPr>
            <a:r>
              <a:rPr lang="tr-TR" sz="4400" b="0" u="none" strike="noStrike">
                <a:solidFill>
                  <a:srgbClr val="38bdf8"/>
                </a:solidFill>
                <a:effectLst/>
                <a:uFillTx/>
                <a:latin typeface="Arial"/>
              </a:rPr>
              <a:t>PayNest </a:t>
            </a:r>
            <a:r>
              <a:rPr lang="tr-TR" sz="4400" b="0" u="none" strike="noStrike">
                <a:solidFill>
                  <a:srgbClr val="ffffff"/>
                </a:solidFill>
                <a:effectLst/>
                <a:uFillTx/>
                <a:latin typeface="Arial"/>
              </a:rPr>
              <a:t>Ödeme Geçidi ve</a:t>
            </a:r>
            <a:br>
              <a:rPr sz="4400"/>
            </a:br>
            <a:r>
              <a:rPr lang="tr-TR" sz="4400" b="0" u="none" strike="noStrike">
                <a:solidFill>
                  <a:srgbClr val="ffffff"/>
                </a:solidFill>
                <a:effectLst/>
                <a:uFillTx/>
                <a:latin typeface="Arial"/>
              </a:rPr>
              <a:t>Tahsilat Aracı Yazılımı</a:t>
            </a:r>
            <a:endParaRPr lang="tr-TR" sz="4400" b="0" u="none" strike="noStrike">
              <a:solidFill>
                <a:srgbClr val="ffffff"/>
              </a:solidFill>
              <a:effectLst/>
              <a:uFillTx/>
              <a:latin typeface="Arial"/>
            </a:endParaRPr>
          </a:p>
        </p:txBody>
      </p:sp>
      <p:sp>
        <p:nvSpPr>
          <p:cNvPr id="10" name=""/>
          <p:cNvSpPr/>
          <p:nvPr/>
        </p:nvSpPr>
        <p:spPr>
          <a:xfrm>
            <a:off x="3420360" y="2340000"/>
            <a:ext cx="3238200" cy="207180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tr-TR" sz="2000" b="0" u="none" strike="noStrike">
                <a:solidFill>
                  <a:srgbClr val="ffffff"/>
                </a:solidFill>
                <a:effectLst/>
                <a:uFillTx/>
                <a:latin typeface="Arial"/>
                <a:ea typeface="DejaVu Sans"/>
              </a:rPr>
              <a:t>Hazırlayan:</a:t>
            </a:r>
            <a:endParaRPr lang="tr-TR" sz="2000" b="0" u="none" strike="noStrike">
              <a:solidFill>
                <a:srgbClr val="ffffff"/>
              </a:solidFill>
              <a:effectLst/>
              <a:uFillTx/>
              <a:latin typeface="Arial"/>
            </a:endParaRPr>
          </a:p>
          <a:p>
            <a:pPr algn="ctr">
              <a:lnSpc>
                <a:spcPct val="100000"/>
              </a:lnSpc>
            </a:pPr>
            <a:r>
              <a:rPr lang="tr-TR" sz="2000" b="1" u="none" strike="noStrike">
                <a:solidFill>
                  <a:srgbClr val="38bdf8"/>
                </a:solidFill>
                <a:effectLst/>
                <a:uFillTx/>
                <a:latin typeface="Arial"/>
                <a:ea typeface="DejaVu Sans"/>
              </a:rPr>
              <a:t>Gaffar Korkmaz</a:t>
            </a:r>
            <a:endParaRPr lang="tr-TR" sz="2000" b="0" u="none" strike="noStrike">
              <a:solidFill>
                <a:srgbClr val="ffffff"/>
              </a:solidFill>
              <a:effectLst/>
              <a:uFillTx/>
              <a:latin typeface="Arial"/>
            </a:endParaRPr>
          </a:p>
          <a:p>
            <a:pPr algn="ctr">
              <a:lnSpc>
                <a:spcPct val="100000"/>
              </a:lnSpc>
            </a:pPr>
            <a:endParaRPr lang="tr-TR" sz="2000" b="0" u="none" strike="noStrike">
              <a:solidFill>
                <a:srgbClr val="ffffff"/>
              </a:solidFill>
              <a:effectLst/>
              <a:uFillTx/>
              <a:latin typeface="Arial"/>
            </a:endParaRPr>
          </a:p>
          <a:p>
            <a:pPr algn="ctr">
              <a:lnSpc>
                <a:spcPct val="100000"/>
              </a:lnSpc>
            </a:pPr>
            <a:r>
              <a:rPr lang="tr-TR" sz="2000" b="0" u="none" strike="noStrike">
                <a:solidFill>
                  <a:srgbClr val="ffffff"/>
                </a:solidFill>
                <a:effectLst/>
                <a:uFillTx/>
                <a:latin typeface="Arial"/>
                <a:ea typeface="DejaVu Sans"/>
              </a:rPr>
              <a:t>Öğrenci No:</a:t>
            </a:r>
            <a:endParaRPr lang="tr-TR" sz="2000" b="0" u="none" strike="noStrike">
              <a:solidFill>
                <a:srgbClr val="ffffff"/>
              </a:solidFill>
              <a:effectLst/>
              <a:uFillTx/>
              <a:latin typeface="Arial"/>
            </a:endParaRPr>
          </a:p>
          <a:p>
            <a:pPr algn="ctr">
              <a:lnSpc>
                <a:spcPct val="100000"/>
              </a:lnSpc>
            </a:pPr>
            <a:r>
              <a:rPr lang="tr-TR" sz="2000" b="1" u="none" strike="noStrike">
                <a:solidFill>
                  <a:srgbClr val="38bdf8"/>
                </a:solidFill>
                <a:effectLst/>
                <a:uFillTx/>
                <a:latin typeface="Arial"/>
                <a:ea typeface="DejaVu Sans"/>
              </a:rPr>
              <a:t>262484021</a:t>
            </a:r>
            <a:endParaRPr lang="tr-TR" sz="2000" b="0" u="none" strike="noStrike">
              <a:solidFill>
                <a:srgbClr val="ffffff"/>
              </a:solidFill>
              <a:effectLst/>
              <a:uFillTx/>
              <a:latin typeface="Arial"/>
            </a:endParaRPr>
          </a:p>
          <a:p>
            <a:pPr algn="ctr">
              <a:lnSpc>
                <a:spcPct val="100000"/>
              </a:lnSpc>
            </a:pPr>
            <a:endParaRPr lang="tr-TR" sz="2000" b="0" u="none" strike="noStrike">
              <a:solidFill>
                <a:srgbClr val="ffffff"/>
              </a:solidFill>
              <a:effectLst/>
              <a:uFillTx/>
              <a:latin typeface="Arial"/>
            </a:endParaRPr>
          </a:p>
          <a:p>
            <a:pPr algn="ctr">
              <a:lnSpc>
                <a:spcPct val="100000"/>
              </a:lnSpc>
            </a:pPr>
            <a:endParaRPr lang="tr-TR" sz="2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1" name=""/>
          <p:cNvSpPr/>
          <p:nvPr/>
        </p:nvSpPr>
        <p:spPr>
          <a:xfrm>
            <a:off x="2430360" y="180000"/>
            <a:ext cx="5218200" cy="57816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tr-TR" sz="3200" b="1" u="none" strike="noStrike">
                <a:solidFill>
                  <a:srgbClr val="38bdf8"/>
                </a:solidFill>
                <a:effectLst/>
                <a:uFillTx/>
                <a:latin typeface="Arial"/>
                <a:ea typeface="DejaVu Sans"/>
              </a:rPr>
              <a:t>CANLI DEMO</a:t>
            </a:r>
            <a:endParaRPr lang="tr-TR" sz="3200" b="0" u="none" strike="noStrike">
              <a:solidFill>
                <a:srgbClr val="ffffff"/>
              </a:solidFill>
              <a:effectLst/>
              <a:uFillTx/>
              <a:latin typeface="Arial"/>
            </a:endParaRPr>
          </a:p>
        </p:txBody>
      </p:sp>
      <p:sp>
        <p:nvSpPr>
          <p:cNvPr id="12" name=""/>
          <p:cNvSpPr txBox="1"/>
          <p:nvPr/>
        </p:nvSpPr>
        <p:spPr>
          <a:xfrm>
            <a:off x="2160000" y="1800000"/>
            <a:ext cx="6279480" cy="2520000"/>
          </a:xfrm>
          <a:prstGeom prst="rect">
            <a:avLst/>
          </a:prstGeom>
          <a:noFill/>
          <a:ln w="0">
            <a:noFill/>
          </a:ln>
        </p:spPr>
        <p:txBody>
          <a:bodyPr lIns="90000" rIns="90000" tIns="45000" bIns="45000" anchor="t">
            <a:spAutoFit/>
          </a:bodyPr>
          <a:p>
            <a:r>
              <a:rPr lang="tr-TR" sz="3000" b="0" u="none" strike="noStrike">
                <a:solidFill>
                  <a:srgbClr val="ffffff"/>
                </a:solidFill>
                <a:effectLst/>
                <a:uFillTx/>
                <a:latin typeface="Arial"/>
                <a:hlinkClick r:id="rId2"/>
              </a:rPr>
              <a:t>https://paynest.forcescripts.com</a:t>
            </a:r>
            <a:endParaRPr lang="tr-TR" sz="3000" b="0" u="none" strike="noStrike">
              <a:solidFill>
                <a:srgbClr val="ffffff"/>
              </a:solidFill>
              <a:effectLst/>
              <a:uFillTx/>
              <a:latin typeface="Arial"/>
            </a:endParaRPr>
          </a:p>
          <a:p>
            <a:endParaRPr lang="tr-TR" sz="3000" b="0" u="none" strike="noStrike">
              <a:solidFill>
                <a:srgbClr val="ffffff"/>
              </a:solidFill>
              <a:effectLst/>
              <a:uFillTx/>
              <a:latin typeface="Arial"/>
            </a:endParaRPr>
          </a:p>
          <a:p>
            <a:r>
              <a:rPr lang="tr-TR" sz="3000" b="0" u="none" strike="noStrike">
                <a:solidFill>
                  <a:srgbClr val="ffffff"/>
                </a:solidFill>
                <a:effectLst/>
                <a:uFillTx/>
                <a:latin typeface="Arial"/>
              </a:rPr>
              <a:t>Eposta: </a:t>
            </a:r>
            <a:r>
              <a:rPr lang="tr-TR" sz="3000" b="0" u="none" strike="noStrike">
                <a:solidFill>
                  <a:srgbClr val="ffffff"/>
                </a:solidFill>
                <a:effectLst/>
                <a:uFillTx/>
                <a:latin typeface="Arial"/>
                <a:hlinkClick r:id="rId3"/>
              </a:rPr>
              <a:t>test@gmail.com</a:t>
            </a:r>
            <a:endParaRPr lang="tr-TR" sz="3000" b="0" u="none" strike="noStrike">
              <a:solidFill>
                <a:srgbClr val="ffffff"/>
              </a:solidFill>
              <a:effectLst/>
              <a:uFillTx/>
              <a:latin typeface="Arial"/>
            </a:endParaRPr>
          </a:p>
          <a:p>
            <a:r>
              <a:rPr lang="tr-TR" sz="3000" b="0" u="none" strike="noStrike">
                <a:solidFill>
                  <a:srgbClr val="ffffff"/>
                </a:solidFill>
                <a:effectLst/>
                <a:uFillTx/>
                <a:latin typeface="Arial"/>
              </a:rPr>
              <a:t>Şifre: 12345678</a:t>
            </a:r>
            <a:endParaRPr lang="tr-TR" sz="3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3" name=""/>
          <p:cNvSpPr/>
          <p:nvPr/>
        </p:nvSpPr>
        <p:spPr>
          <a:xfrm>
            <a:off x="2430360" y="180000"/>
            <a:ext cx="5218200" cy="107820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tr-TR" sz="3200" b="1" u="none" strike="noStrike">
                <a:solidFill>
                  <a:srgbClr val="38bdf8"/>
                </a:solidFill>
                <a:effectLst/>
                <a:uFillTx/>
                <a:latin typeface="Arial"/>
                <a:ea typeface="DejaVu Sans"/>
              </a:rPr>
              <a:t>PROJENİN TANIMI</a:t>
            </a:r>
            <a:endParaRPr lang="tr-TR" sz="3200" b="0" u="none" strike="noStrike">
              <a:solidFill>
                <a:srgbClr val="ffffff"/>
              </a:solidFill>
              <a:effectLst/>
              <a:uFillTx/>
              <a:latin typeface="Arial"/>
            </a:endParaRPr>
          </a:p>
        </p:txBody>
      </p:sp>
      <p:sp>
        <p:nvSpPr>
          <p:cNvPr id="14" name=""/>
          <p:cNvSpPr/>
          <p:nvPr/>
        </p:nvSpPr>
        <p:spPr>
          <a:xfrm>
            <a:off x="180000" y="1080000"/>
            <a:ext cx="5038200" cy="4498200"/>
          </a:xfrm>
          <a:prstGeom prst="rect">
            <a:avLst/>
          </a:prstGeom>
          <a:noFill/>
          <a:ln w="0">
            <a:noFill/>
          </a:ln>
        </p:spPr>
        <p:style>
          <a:lnRef idx="0"/>
          <a:fillRef idx="0"/>
          <a:effectRef idx="0"/>
          <a:fontRef idx="minor"/>
        </p:style>
        <p:txBody>
          <a:bodyPr lIns="90000" rIns="90000" tIns="45000" bIns="45000" anchor="t">
            <a:spAutoFit/>
          </a:bodyPr>
          <a:p>
            <a:pPr marL="198000" indent="-198000">
              <a:lnSpc>
                <a:spcPct val="100000"/>
              </a:lnSpc>
              <a:buClr>
                <a:srgbClr val="38bdf8"/>
              </a:buClr>
              <a:buFont typeface="Wingdings 3" charset="2"/>
              <a:buChar char=""/>
            </a:pPr>
            <a:r>
              <a:rPr lang="tr-TR" sz="2000" b="1" u="none" strike="noStrike">
                <a:solidFill>
                  <a:srgbClr val="ffffff"/>
                </a:solidFill>
                <a:effectLst/>
                <a:uFillTx/>
                <a:latin typeface="Arial"/>
                <a:ea typeface="DejaVu Sans"/>
              </a:rPr>
              <a:t> </a:t>
            </a:r>
            <a:r>
              <a:rPr lang="tr-TR" sz="2000" b="1" u="none" strike="noStrike">
                <a:solidFill>
                  <a:srgbClr val="38bdf8"/>
                </a:solidFill>
                <a:effectLst/>
                <a:uFillTx/>
                <a:latin typeface="Arial"/>
                <a:ea typeface="DejaVu Sans"/>
              </a:rPr>
              <a:t>Problem:</a:t>
            </a:r>
            <a:r>
              <a:rPr lang="tr-TR" sz="2000" b="0" u="none" strike="noStrike">
                <a:solidFill>
                  <a:srgbClr val="ffffff"/>
                </a:solidFill>
                <a:effectLst/>
                <a:uFillTx/>
                <a:latin typeface="Arial"/>
                <a:ea typeface="DejaVu Sans"/>
              </a:rPr>
              <a:t> Yeni e-ticaret sitelerinin sanal POS taleplerinde karşılaştıkları gerekçesiz retler ve standart prosedürleri aşan yorucu, aşırı detaycı inceleme aşamaları</a:t>
            </a:r>
            <a:endParaRPr lang="tr-TR" sz="2000" b="0" u="none" strike="noStrike">
              <a:solidFill>
                <a:srgbClr val="ffffff"/>
              </a:solidFill>
              <a:effectLst/>
              <a:uFillTx/>
              <a:latin typeface="Arial"/>
            </a:endParaRPr>
          </a:p>
          <a:p>
            <a:pPr>
              <a:lnSpc>
                <a:spcPct val="100000"/>
              </a:lnSpc>
            </a:pPr>
            <a:endParaRPr lang="tr-TR" sz="2000" b="0" u="none" strike="noStrike">
              <a:solidFill>
                <a:srgbClr val="ffffff"/>
              </a:solidFill>
              <a:effectLst/>
              <a:uFillTx/>
              <a:latin typeface="Arial"/>
            </a:endParaRPr>
          </a:p>
          <a:p>
            <a:pPr marL="198000" indent="-198000">
              <a:lnSpc>
                <a:spcPct val="100000"/>
              </a:lnSpc>
              <a:buClr>
                <a:srgbClr val="38bdf8"/>
              </a:buClr>
              <a:buFont typeface="Wingdings 3" charset="2"/>
              <a:buChar char=""/>
            </a:pPr>
            <a:r>
              <a:rPr lang="tr-TR" sz="2000" b="1" u="none" strike="noStrike">
                <a:solidFill>
                  <a:srgbClr val="38bdf8"/>
                </a:solidFill>
                <a:effectLst/>
                <a:uFillTx/>
                <a:latin typeface="Arial"/>
                <a:ea typeface="DejaVu Sans"/>
              </a:rPr>
              <a:t> Mevcut Durum: </a:t>
            </a:r>
            <a:r>
              <a:rPr lang="tr-TR" sz="2000" b="0" u="none" strike="noStrike">
                <a:solidFill>
                  <a:srgbClr val="ffffff"/>
                </a:solidFill>
                <a:effectLst/>
                <a:uFillTx/>
                <a:latin typeface="Arial"/>
                <a:ea typeface="DejaVu Sans"/>
              </a:rPr>
              <a:t>Her farklı site için ayrı bir POS onayı gerekmektedir.</a:t>
            </a:r>
            <a:endParaRPr lang="tr-TR" sz="2000" b="0" u="none" strike="noStrike">
              <a:solidFill>
                <a:srgbClr val="ffffff"/>
              </a:solidFill>
              <a:effectLst/>
              <a:uFillTx/>
              <a:latin typeface="Arial"/>
            </a:endParaRPr>
          </a:p>
          <a:p>
            <a:pPr>
              <a:lnSpc>
                <a:spcPct val="100000"/>
              </a:lnSpc>
            </a:pPr>
            <a:endParaRPr lang="tr-TR" sz="2000" b="0" u="none" strike="noStrike">
              <a:solidFill>
                <a:srgbClr val="ffffff"/>
              </a:solidFill>
              <a:effectLst/>
              <a:uFillTx/>
              <a:latin typeface="Arial"/>
            </a:endParaRPr>
          </a:p>
          <a:p>
            <a:pPr marL="198000" indent="-198000">
              <a:lnSpc>
                <a:spcPct val="100000"/>
              </a:lnSpc>
              <a:buClr>
                <a:srgbClr val="38bdf8"/>
              </a:buClr>
              <a:buFont typeface="Wingdings 3" charset="2"/>
              <a:buChar char=""/>
            </a:pPr>
            <a:r>
              <a:rPr lang="tr-TR" sz="2000" b="1" u="none" strike="noStrike">
                <a:solidFill>
                  <a:srgbClr val="38bdf8"/>
                </a:solidFill>
                <a:effectLst/>
                <a:uFillTx/>
                <a:latin typeface="Arial"/>
                <a:ea typeface="DejaVu Sans"/>
              </a:rPr>
              <a:t> Çözüm (Paynest): </a:t>
            </a:r>
            <a:r>
              <a:rPr lang="tr-TR" sz="2000" b="0" u="none" strike="noStrike">
                <a:solidFill>
                  <a:srgbClr val="ffffff"/>
                </a:solidFill>
                <a:effectLst/>
                <a:uFillTx/>
                <a:latin typeface="Arial"/>
                <a:ea typeface="DejaVu Sans"/>
              </a:rPr>
              <a:t>Alınan tek bir sanal POS’ un, kullanıcının tüm sitelerinde aynı kodla kullanabilmesini sağlayan merkezi bir yazılım mimarisidir.</a:t>
            </a:r>
            <a:endParaRPr lang="tr-TR" sz="2000" b="0" u="none" strike="noStrike">
              <a:solidFill>
                <a:srgbClr val="ffffff"/>
              </a:solidFill>
              <a:effectLst/>
              <a:uFillTx/>
              <a:latin typeface="Arial"/>
            </a:endParaRPr>
          </a:p>
        </p:txBody>
      </p:sp>
      <p:sp>
        <p:nvSpPr>
          <p:cNvPr id="15" name=""/>
          <p:cNvSpPr/>
          <p:nvPr/>
        </p:nvSpPr>
        <p:spPr>
          <a:xfrm>
            <a:off x="5220000" y="1260000"/>
            <a:ext cx="4858920" cy="3238200"/>
          </a:xfrm>
          <a:prstGeom prst="rect">
            <a:avLst/>
          </a:prstGeom>
          <a:solidFill>
            <a:srgbClr val="729fcf">
              <a:alpha val="20000"/>
            </a:srgbClr>
          </a:solidFill>
          <a:ln w="0">
            <a:solidFill>
              <a:srgbClr val="ffffff"/>
            </a:solidFill>
          </a:ln>
        </p:spPr>
        <p:style>
          <a:lnRef idx="0"/>
          <a:fillRef idx="0"/>
          <a:effectRef idx="0"/>
          <a:fontRef idx="minor"/>
        </p:style>
        <p:txBody>
          <a:bodyPr lIns="90000" rIns="90000" tIns="45000" bIns="45000" anchor="ctr">
            <a:noAutofit/>
          </a:bodyPr>
          <a:p>
            <a:pPr>
              <a:lnSpc>
                <a:spcPct val="100000"/>
              </a:lnSpc>
            </a:pPr>
            <a:endParaRPr lang="tr-TR" sz="1800" b="0" u="none" strike="noStrike">
              <a:solidFill>
                <a:srgbClr val="000000"/>
              </a:solidFill>
              <a:effectLst/>
              <a:uFillTx/>
              <a:latin typeface="Arial"/>
              <a:ea typeface="DejaVu Sans"/>
            </a:endParaRPr>
          </a:p>
        </p:txBody>
      </p:sp>
      <p:sp>
        <p:nvSpPr>
          <p:cNvPr id="16" name=""/>
          <p:cNvSpPr/>
          <p:nvPr/>
        </p:nvSpPr>
        <p:spPr>
          <a:xfrm>
            <a:off x="5400360" y="4023000"/>
            <a:ext cx="4498200" cy="39456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tr-TR" sz="2000" b="0" u="none" strike="noStrike">
                <a:solidFill>
                  <a:srgbClr val="ffffff"/>
                </a:solidFill>
                <a:effectLst/>
                <a:uFillTx/>
                <a:latin typeface="Arial"/>
                <a:ea typeface="DejaVu Sans"/>
              </a:rPr>
              <a:t>Paynest Merkezi Tahsilat Mimarisi [1]</a:t>
            </a:r>
            <a:endParaRPr lang="tr-TR" sz="2000" b="0" u="none" strike="noStrike">
              <a:solidFill>
                <a:srgbClr val="ffffff"/>
              </a:solidFill>
              <a:effectLst/>
              <a:uFillTx/>
              <a:latin typeface="Arial"/>
            </a:endParaRPr>
          </a:p>
        </p:txBody>
      </p:sp>
      <p:pic>
        <p:nvPicPr>
          <p:cNvPr id="17" name=""/>
          <p:cNvPicPr/>
          <p:nvPr/>
        </p:nvPicPr>
        <p:blipFill>
          <a:blip r:embed="rId2"/>
          <a:stretch/>
        </p:blipFill>
        <p:spPr>
          <a:xfrm>
            <a:off x="5459040" y="1440000"/>
            <a:ext cx="4259520" cy="241128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8" name=""/>
          <p:cNvSpPr/>
          <p:nvPr/>
        </p:nvSpPr>
        <p:spPr>
          <a:xfrm>
            <a:off x="2430360" y="180000"/>
            <a:ext cx="5218200" cy="107820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tr-TR" sz="3200" b="1" u="none" strike="noStrike">
                <a:solidFill>
                  <a:srgbClr val="38bdf8"/>
                </a:solidFill>
                <a:effectLst/>
                <a:uFillTx/>
                <a:latin typeface="Arial"/>
                <a:ea typeface="DejaVu Sans"/>
              </a:rPr>
              <a:t>PLANLAMA</a:t>
            </a:r>
            <a:endParaRPr lang="tr-TR" sz="3200" b="0" u="none" strike="noStrike">
              <a:solidFill>
                <a:srgbClr val="ffffff"/>
              </a:solidFill>
              <a:effectLst/>
              <a:uFillTx/>
              <a:latin typeface="Arial"/>
            </a:endParaRPr>
          </a:p>
        </p:txBody>
      </p:sp>
      <p:sp>
        <p:nvSpPr>
          <p:cNvPr id="19" name=""/>
          <p:cNvSpPr/>
          <p:nvPr/>
        </p:nvSpPr>
        <p:spPr>
          <a:xfrm>
            <a:off x="900360" y="2520000"/>
            <a:ext cx="8280000" cy="360"/>
          </a:xfrm>
          <a:prstGeom prst="line">
            <a:avLst/>
          </a:prstGeom>
          <a:ln w="36000">
            <a:solidFill>
              <a:srgbClr val="ffffff"/>
            </a:solidFill>
            <a:miter/>
          </a:ln>
        </p:spPr>
        <p:style>
          <a:lnRef idx="0"/>
          <a:fillRef idx="0"/>
          <a:effectRef idx="0"/>
          <a:fontRef idx="minor"/>
        </p:style>
        <p:txBody>
          <a:bodyPr lIns="54000" rIns="54000" tIns="-9000" bIns="-9000" anchor="ctr">
            <a:noAutofit/>
          </a:bodyPr>
          <a:p>
            <a:endParaRPr lang="tr-TR" sz="1800" b="0" u="none" strike="noStrike">
              <a:solidFill>
                <a:srgbClr val="ffffff"/>
              </a:solidFill>
              <a:effectLst/>
              <a:uFillTx/>
              <a:latin typeface="Arial"/>
              <a:ea typeface="DejaVu Sans"/>
            </a:endParaRPr>
          </a:p>
        </p:txBody>
      </p:sp>
      <p:sp>
        <p:nvSpPr>
          <p:cNvPr id="20" name=""/>
          <p:cNvSpPr/>
          <p:nvPr/>
        </p:nvSpPr>
        <p:spPr>
          <a:xfrm>
            <a:off x="1980000" y="2520000"/>
            <a:ext cx="360" cy="180000"/>
          </a:xfrm>
          <a:prstGeom prst="line">
            <a:avLst/>
          </a:prstGeom>
          <a:ln w="36000">
            <a:solidFill>
              <a:srgbClr val="ffffff"/>
            </a:solidFill>
            <a:miter/>
          </a:ln>
        </p:spPr>
        <p:style>
          <a:lnRef idx="0"/>
          <a:fillRef idx="0"/>
          <a:effectRef idx="0"/>
          <a:fontRef idx="minor"/>
        </p:style>
        <p:txBody>
          <a:bodyPr lIns="90000" rIns="90000" tIns="45000" bIns="45000" anchor="ctr">
            <a:noAutofit/>
          </a:bodyPr>
          <a:p>
            <a:endParaRPr lang="tr-TR" sz="1800" b="0" u="none" strike="noStrike">
              <a:solidFill>
                <a:srgbClr val="ffffff"/>
              </a:solidFill>
              <a:effectLst/>
              <a:uFillTx/>
              <a:latin typeface="Arial"/>
              <a:ea typeface="DejaVu Sans"/>
            </a:endParaRPr>
          </a:p>
        </p:txBody>
      </p:sp>
      <p:sp>
        <p:nvSpPr>
          <p:cNvPr id="21" name=""/>
          <p:cNvSpPr/>
          <p:nvPr/>
        </p:nvSpPr>
        <p:spPr>
          <a:xfrm>
            <a:off x="540000" y="2866320"/>
            <a:ext cx="2698200" cy="207180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tr-TR" sz="2000" b="1" u="none" strike="noStrike">
                <a:solidFill>
                  <a:srgbClr val="38bdf8"/>
                </a:solidFill>
                <a:effectLst/>
                <a:uFillTx/>
                <a:latin typeface="Arial"/>
                <a:ea typeface="DejaVu Sans"/>
              </a:rPr>
              <a:t>1. Aşama</a:t>
            </a:r>
            <a:endParaRPr lang="tr-TR" sz="2000" b="0" u="none" strike="noStrike">
              <a:solidFill>
                <a:srgbClr val="ffffff"/>
              </a:solidFill>
              <a:effectLst/>
              <a:uFillTx/>
              <a:latin typeface="Arial"/>
            </a:endParaRPr>
          </a:p>
          <a:p>
            <a:pPr algn="ctr">
              <a:lnSpc>
                <a:spcPct val="100000"/>
              </a:lnSpc>
            </a:pPr>
            <a:r>
              <a:rPr lang="tr-TR" sz="2000" b="0" u="none" strike="noStrike">
                <a:solidFill>
                  <a:srgbClr val="ffffff"/>
                </a:solidFill>
                <a:effectLst/>
                <a:uFillTx/>
                <a:latin typeface="Arial"/>
                <a:ea typeface="DejaVu Sans"/>
              </a:rPr>
              <a:t>Sektörel Sorunların Tespiti ve Gereksinim Analizi</a:t>
            </a:r>
            <a:endParaRPr lang="tr-TR" sz="2000" b="0" u="none" strike="noStrike">
              <a:solidFill>
                <a:srgbClr val="ffffff"/>
              </a:solidFill>
              <a:effectLst/>
              <a:uFillTx/>
              <a:latin typeface="Arial"/>
            </a:endParaRPr>
          </a:p>
        </p:txBody>
      </p:sp>
      <p:sp>
        <p:nvSpPr>
          <p:cNvPr id="22" name=""/>
          <p:cNvSpPr/>
          <p:nvPr/>
        </p:nvSpPr>
        <p:spPr>
          <a:xfrm flipV="1">
            <a:off x="3960000" y="2340000"/>
            <a:ext cx="360" cy="180000"/>
          </a:xfrm>
          <a:prstGeom prst="line">
            <a:avLst/>
          </a:prstGeom>
          <a:ln w="36000">
            <a:solidFill>
              <a:srgbClr val="ffffff"/>
            </a:solidFill>
            <a:miter/>
          </a:ln>
        </p:spPr>
        <p:style>
          <a:lnRef idx="0"/>
          <a:fillRef idx="0"/>
          <a:effectRef idx="0"/>
          <a:fontRef idx="minor"/>
        </p:style>
        <p:txBody>
          <a:bodyPr lIns="90000" rIns="90000" tIns="45000" bIns="45000" anchor="ctr">
            <a:noAutofit/>
          </a:bodyPr>
          <a:p>
            <a:endParaRPr lang="tr-TR" sz="1800" b="0" u="none" strike="noStrike">
              <a:solidFill>
                <a:srgbClr val="ffffff"/>
              </a:solidFill>
              <a:effectLst/>
              <a:uFillTx/>
              <a:latin typeface="Arial"/>
              <a:ea typeface="DejaVu Sans"/>
            </a:endParaRPr>
          </a:p>
        </p:txBody>
      </p:sp>
      <p:sp>
        <p:nvSpPr>
          <p:cNvPr id="23" name=""/>
          <p:cNvSpPr/>
          <p:nvPr/>
        </p:nvSpPr>
        <p:spPr>
          <a:xfrm>
            <a:off x="2700000" y="1080000"/>
            <a:ext cx="2698200" cy="207180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tr-TR" sz="2000" b="1" u="none" strike="noStrike">
                <a:solidFill>
                  <a:srgbClr val="38bdf8"/>
                </a:solidFill>
                <a:effectLst/>
                <a:uFillTx/>
                <a:latin typeface="Arial"/>
                <a:ea typeface="DejaVu Sans"/>
              </a:rPr>
              <a:t>2. Aşama</a:t>
            </a:r>
            <a:endParaRPr lang="tr-TR" sz="2000" b="0" u="none" strike="noStrike">
              <a:solidFill>
                <a:srgbClr val="ffffff"/>
              </a:solidFill>
              <a:effectLst/>
              <a:uFillTx/>
              <a:latin typeface="Arial"/>
            </a:endParaRPr>
          </a:p>
          <a:p>
            <a:pPr algn="ctr">
              <a:lnSpc>
                <a:spcPct val="100000"/>
              </a:lnSpc>
            </a:pPr>
            <a:r>
              <a:rPr lang="tr-TR" sz="2000" b="0" u="none" strike="noStrike">
                <a:solidFill>
                  <a:srgbClr val="ffffff"/>
                </a:solidFill>
                <a:effectLst/>
                <a:uFillTx/>
                <a:latin typeface="Arial"/>
                <a:ea typeface="DejaVu Sans"/>
              </a:rPr>
              <a:t>Merkezi API Tasarımı ve Veritabanı Modellemesi</a:t>
            </a:r>
            <a:endParaRPr lang="tr-TR" sz="2000" b="0" u="none" strike="noStrike">
              <a:solidFill>
                <a:srgbClr val="ffffff"/>
              </a:solidFill>
              <a:effectLst/>
              <a:uFillTx/>
              <a:latin typeface="Arial"/>
            </a:endParaRPr>
          </a:p>
        </p:txBody>
      </p:sp>
      <p:sp>
        <p:nvSpPr>
          <p:cNvPr id="24" name=""/>
          <p:cNvSpPr/>
          <p:nvPr/>
        </p:nvSpPr>
        <p:spPr>
          <a:xfrm>
            <a:off x="5940000" y="2520000"/>
            <a:ext cx="360" cy="180000"/>
          </a:xfrm>
          <a:prstGeom prst="line">
            <a:avLst/>
          </a:prstGeom>
          <a:ln w="36000">
            <a:solidFill>
              <a:srgbClr val="ffffff"/>
            </a:solidFill>
            <a:miter/>
          </a:ln>
        </p:spPr>
        <p:style>
          <a:lnRef idx="0"/>
          <a:fillRef idx="0"/>
          <a:effectRef idx="0"/>
          <a:fontRef idx="minor"/>
        </p:style>
        <p:txBody>
          <a:bodyPr lIns="90000" rIns="90000" tIns="45000" bIns="45000" anchor="ctr">
            <a:noAutofit/>
          </a:bodyPr>
          <a:p>
            <a:endParaRPr lang="tr-TR" sz="1800" b="0" u="none" strike="noStrike">
              <a:solidFill>
                <a:srgbClr val="ffffff"/>
              </a:solidFill>
              <a:effectLst/>
              <a:uFillTx/>
              <a:latin typeface="Arial"/>
              <a:ea typeface="DejaVu Sans"/>
            </a:endParaRPr>
          </a:p>
        </p:txBody>
      </p:sp>
      <p:sp>
        <p:nvSpPr>
          <p:cNvPr id="25" name=""/>
          <p:cNvSpPr/>
          <p:nvPr/>
        </p:nvSpPr>
        <p:spPr>
          <a:xfrm>
            <a:off x="4500000" y="2880000"/>
            <a:ext cx="2698200" cy="207180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tr-TR" sz="2000" b="1" u="none" strike="noStrike">
                <a:solidFill>
                  <a:srgbClr val="38bdf8"/>
                </a:solidFill>
                <a:effectLst/>
                <a:uFillTx/>
                <a:latin typeface="Arial"/>
                <a:ea typeface="DejaVu Sans"/>
              </a:rPr>
              <a:t>3. Aşama</a:t>
            </a:r>
            <a:endParaRPr lang="tr-TR" sz="2000" b="0" u="none" strike="noStrike">
              <a:solidFill>
                <a:srgbClr val="ffffff"/>
              </a:solidFill>
              <a:effectLst/>
              <a:uFillTx/>
              <a:latin typeface="Arial"/>
            </a:endParaRPr>
          </a:p>
          <a:p>
            <a:pPr algn="ctr">
              <a:lnSpc>
                <a:spcPct val="100000"/>
              </a:lnSpc>
            </a:pPr>
            <a:r>
              <a:rPr lang="tr-TR" sz="2000" b="0" u="none" strike="noStrike">
                <a:solidFill>
                  <a:srgbClr val="ffffff"/>
                </a:solidFill>
                <a:effectLst/>
                <a:uFillTx/>
                <a:latin typeface="Arial"/>
                <a:ea typeface="DejaVu Sans"/>
              </a:rPr>
              <a:t>Yazılım Geliştirme, Sanal POS Entegrasyonları</a:t>
            </a:r>
            <a:endParaRPr lang="tr-TR" sz="2000" b="0" u="none" strike="noStrike">
              <a:solidFill>
                <a:srgbClr val="ffffff"/>
              </a:solidFill>
              <a:effectLst/>
              <a:uFillTx/>
              <a:latin typeface="Arial"/>
            </a:endParaRPr>
          </a:p>
        </p:txBody>
      </p:sp>
      <p:sp>
        <p:nvSpPr>
          <p:cNvPr id="26" name=""/>
          <p:cNvSpPr/>
          <p:nvPr/>
        </p:nvSpPr>
        <p:spPr>
          <a:xfrm flipV="1">
            <a:off x="7920000" y="2340000"/>
            <a:ext cx="360" cy="180000"/>
          </a:xfrm>
          <a:prstGeom prst="line">
            <a:avLst/>
          </a:prstGeom>
          <a:ln w="36000">
            <a:solidFill>
              <a:srgbClr val="ffffff"/>
            </a:solidFill>
            <a:miter/>
          </a:ln>
        </p:spPr>
        <p:style>
          <a:lnRef idx="0"/>
          <a:fillRef idx="0"/>
          <a:effectRef idx="0"/>
          <a:fontRef idx="minor"/>
        </p:style>
        <p:txBody>
          <a:bodyPr lIns="90000" rIns="90000" tIns="45000" bIns="45000" anchor="ctr">
            <a:noAutofit/>
          </a:bodyPr>
          <a:p>
            <a:endParaRPr lang="tr-TR" sz="1800" b="0" u="none" strike="noStrike">
              <a:solidFill>
                <a:srgbClr val="ffffff"/>
              </a:solidFill>
              <a:effectLst/>
              <a:uFillTx/>
              <a:latin typeface="Arial"/>
              <a:ea typeface="DejaVu Sans"/>
            </a:endParaRPr>
          </a:p>
        </p:txBody>
      </p:sp>
      <p:sp>
        <p:nvSpPr>
          <p:cNvPr id="27" name=""/>
          <p:cNvSpPr/>
          <p:nvPr/>
        </p:nvSpPr>
        <p:spPr>
          <a:xfrm>
            <a:off x="6480720" y="1080000"/>
            <a:ext cx="2698200" cy="100440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tr-TR" sz="2000" b="1" u="none" strike="noStrike">
                <a:solidFill>
                  <a:srgbClr val="38bdf8"/>
                </a:solidFill>
                <a:effectLst/>
                <a:uFillTx/>
                <a:latin typeface="Arial"/>
                <a:ea typeface="DejaVu Sans"/>
              </a:rPr>
              <a:t>4. Aşama</a:t>
            </a:r>
            <a:endParaRPr lang="tr-TR" sz="2000" b="0" u="none" strike="noStrike">
              <a:solidFill>
                <a:srgbClr val="ffffff"/>
              </a:solidFill>
              <a:effectLst/>
              <a:uFillTx/>
              <a:latin typeface="Arial"/>
            </a:endParaRPr>
          </a:p>
          <a:p>
            <a:pPr algn="ctr">
              <a:lnSpc>
                <a:spcPct val="100000"/>
              </a:lnSpc>
            </a:pPr>
            <a:r>
              <a:rPr lang="tr-TR" sz="2000" b="0" u="none" strike="noStrike">
                <a:solidFill>
                  <a:srgbClr val="ffffff"/>
                </a:solidFill>
                <a:effectLst/>
                <a:uFillTx/>
                <a:latin typeface="Arial"/>
                <a:ea typeface="DejaVu Sans"/>
              </a:rPr>
              <a:t>Yazılım ve Güvenlik Testleri</a:t>
            </a:r>
            <a:endParaRPr lang="tr-TR" sz="2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8" name=""/>
          <p:cNvSpPr/>
          <p:nvPr/>
        </p:nvSpPr>
        <p:spPr>
          <a:xfrm>
            <a:off x="2430360" y="180000"/>
            <a:ext cx="5218200" cy="57744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tr-TR" sz="3200" b="1" u="none" strike="noStrike">
                <a:solidFill>
                  <a:srgbClr val="38bdf8"/>
                </a:solidFill>
                <a:effectLst/>
                <a:uFillTx/>
                <a:latin typeface="Arial"/>
                <a:ea typeface="DejaVu Sans"/>
              </a:rPr>
              <a:t>ÇÖZÜMLEME VE ANALİZ</a:t>
            </a:r>
            <a:endParaRPr lang="tr-TR" sz="3200" b="0" u="none" strike="noStrike">
              <a:solidFill>
                <a:srgbClr val="ffffff"/>
              </a:solidFill>
              <a:effectLst/>
              <a:uFillTx/>
              <a:latin typeface="Arial"/>
            </a:endParaRPr>
          </a:p>
        </p:txBody>
      </p:sp>
      <p:sp>
        <p:nvSpPr>
          <p:cNvPr id="29" name=""/>
          <p:cNvSpPr/>
          <p:nvPr/>
        </p:nvSpPr>
        <p:spPr>
          <a:xfrm>
            <a:off x="360720" y="2160000"/>
            <a:ext cx="5218200" cy="57744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tr-TR" sz="3200" b="1" u="none" strike="noStrike">
                <a:solidFill>
                  <a:srgbClr val="e6e905"/>
                </a:solidFill>
                <a:effectLst/>
                <a:uFillTx/>
                <a:latin typeface="Arial"/>
                <a:ea typeface="DejaVu Sans"/>
              </a:rPr>
              <a:t>Yabancı Firmalar</a:t>
            </a:r>
            <a:endParaRPr lang="tr-TR" sz="3200" b="0" u="none" strike="noStrike">
              <a:solidFill>
                <a:srgbClr val="ffffff"/>
              </a:solidFill>
              <a:effectLst/>
              <a:uFillTx/>
              <a:latin typeface="Arial"/>
            </a:endParaRPr>
          </a:p>
        </p:txBody>
      </p:sp>
      <p:pic>
        <p:nvPicPr>
          <p:cNvPr id="30" name=""/>
          <p:cNvPicPr/>
          <p:nvPr/>
        </p:nvPicPr>
        <p:blipFill>
          <a:blip r:embed="rId2"/>
          <a:stretch/>
        </p:blipFill>
        <p:spPr>
          <a:xfrm>
            <a:off x="720000" y="4320000"/>
            <a:ext cx="2025360" cy="358560"/>
          </a:xfrm>
          <a:prstGeom prst="rect">
            <a:avLst/>
          </a:prstGeom>
          <a:noFill/>
          <a:ln w="0">
            <a:noFill/>
          </a:ln>
        </p:spPr>
      </p:pic>
      <p:pic>
        <p:nvPicPr>
          <p:cNvPr id="31" name=""/>
          <p:cNvPicPr/>
          <p:nvPr/>
        </p:nvPicPr>
        <p:blipFill>
          <a:blip r:embed="rId3"/>
          <a:stretch/>
        </p:blipFill>
        <p:spPr>
          <a:xfrm>
            <a:off x="2934360" y="3994200"/>
            <a:ext cx="2104560" cy="1044720"/>
          </a:xfrm>
          <a:prstGeom prst="rect">
            <a:avLst/>
          </a:prstGeom>
          <a:noFill/>
          <a:ln w="0">
            <a:noFill/>
          </a:ln>
        </p:spPr>
      </p:pic>
      <p:pic>
        <p:nvPicPr>
          <p:cNvPr id="32" name=""/>
          <p:cNvPicPr/>
          <p:nvPr/>
        </p:nvPicPr>
        <p:blipFill>
          <a:blip r:embed="rId4"/>
          <a:stretch/>
        </p:blipFill>
        <p:spPr>
          <a:xfrm>
            <a:off x="846720" y="1462680"/>
            <a:ext cx="1672200" cy="696240"/>
          </a:xfrm>
          <a:prstGeom prst="rect">
            <a:avLst/>
          </a:prstGeom>
          <a:noFill/>
          <a:ln w="0">
            <a:noFill/>
          </a:ln>
        </p:spPr>
      </p:pic>
      <p:pic>
        <p:nvPicPr>
          <p:cNvPr id="33" name=""/>
          <p:cNvPicPr/>
          <p:nvPr/>
        </p:nvPicPr>
        <p:blipFill>
          <a:blip r:embed="rId5"/>
          <a:stretch/>
        </p:blipFill>
        <p:spPr>
          <a:xfrm>
            <a:off x="3060000" y="1620000"/>
            <a:ext cx="1798920" cy="478800"/>
          </a:xfrm>
          <a:prstGeom prst="rect">
            <a:avLst/>
          </a:prstGeom>
          <a:noFill/>
          <a:ln w="0">
            <a:noFill/>
          </a:ln>
        </p:spPr>
      </p:pic>
      <p:sp>
        <p:nvSpPr>
          <p:cNvPr id="34" name=""/>
          <p:cNvSpPr/>
          <p:nvPr/>
        </p:nvSpPr>
        <p:spPr>
          <a:xfrm>
            <a:off x="360000" y="3561840"/>
            <a:ext cx="5218200" cy="57744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tr-TR" sz="3200" b="1" u="none" strike="noStrike">
                <a:solidFill>
                  <a:srgbClr val="e6e905"/>
                </a:solidFill>
                <a:effectLst/>
                <a:uFillTx/>
                <a:latin typeface="Arial"/>
                <a:ea typeface="DejaVu Sans"/>
              </a:rPr>
              <a:t>Yerli Firmalar</a:t>
            </a:r>
            <a:endParaRPr lang="tr-TR" sz="3200" b="0" u="none" strike="noStrike">
              <a:solidFill>
                <a:srgbClr val="ffffff"/>
              </a:solidFill>
              <a:effectLst/>
              <a:uFillTx/>
              <a:latin typeface="Arial"/>
            </a:endParaRPr>
          </a:p>
        </p:txBody>
      </p:sp>
      <p:pic>
        <p:nvPicPr>
          <p:cNvPr id="35" name=""/>
          <p:cNvPicPr/>
          <p:nvPr/>
        </p:nvPicPr>
        <p:blipFill>
          <a:blip r:embed="rId6"/>
          <a:stretch/>
        </p:blipFill>
        <p:spPr>
          <a:xfrm>
            <a:off x="903960" y="756000"/>
            <a:ext cx="1434960" cy="682920"/>
          </a:xfrm>
          <a:prstGeom prst="rect">
            <a:avLst/>
          </a:prstGeom>
          <a:noFill/>
          <a:ln w="0">
            <a:noFill/>
          </a:ln>
        </p:spPr>
      </p:pic>
      <p:pic>
        <p:nvPicPr>
          <p:cNvPr id="36" name=""/>
          <p:cNvPicPr/>
          <p:nvPr/>
        </p:nvPicPr>
        <p:blipFill>
          <a:blip r:embed="rId7"/>
          <a:stretch/>
        </p:blipFill>
        <p:spPr>
          <a:xfrm>
            <a:off x="3060000" y="847800"/>
            <a:ext cx="1798920" cy="739440"/>
          </a:xfrm>
          <a:prstGeom prst="rect">
            <a:avLst/>
          </a:prstGeom>
          <a:noFill/>
          <a:ln w="0">
            <a:noFill/>
          </a:ln>
        </p:spPr>
      </p:pic>
      <p:sp>
        <p:nvSpPr>
          <p:cNvPr id="37" name=""/>
          <p:cNvSpPr/>
          <p:nvPr/>
        </p:nvSpPr>
        <p:spPr>
          <a:xfrm>
            <a:off x="5040000" y="900000"/>
            <a:ext cx="5039640" cy="5208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tr-TR" sz="1800" b="1" u="none" strike="noStrike">
                <a:solidFill>
                  <a:srgbClr val="ffffff"/>
                </a:solidFill>
                <a:effectLst/>
                <a:uFillTx/>
                <a:latin typeface="Arial"/>
                <a:ea typeface="DejaVu Sans"/>
              </a:rPr>
              <a:t>Sektör Analizi</a:t>
            </a:r>
            <a:endParaRPr lang="tr-TR" sz="1800" b="0" u="none" strike="noStrike">
              <a:solidFill>
                <a:srgbClr val="ffffff"/>
              </a:solidFill>
              <a:effectLst/>
              <a:uFillTx/>
              <a:latin typeface="Arial"/>
            </a:endParaRPr>
          </a:p>
          <a:p>
            <a:pPr marL="216000" indent="-216000">
              <a:lnSpc>
                <a:spcPct val="100000"/>
              </a:lnSpc>
              <a:buClr>
                <a:srgbClr val="ffffff"/>
              </a:buClr>
              <a:buSzPct val="45000"/>
              <a:buFont typeface="Wingdings" charset="2"/>
              <a:buChar char=""/>
            </a:pPr>
            <a:r>
              <a:rPr lang="tr-TR" sz="1800" b="0" u="none" strike="noStrike">
                <a:solidFill>
                  <a:srgbClr val="ffffff"/>
                </a:solidFill>
                <a:effectLst/>
                <a:uFillTx/>
                <a:latin typeface="Arial"/>
                <a:ea typeface="DejaVu Sans"/>
              </a:rPr>
              <a:t>Çoğu sektöre yön veren firmalar türkiyeye hizmet vermemektedir. Örn google pay, apple pay, stripe, paypal vs. Bu kısıtlamalardan dolayı çoğu site kısıtlı imkanlarla yerli firmalardan hizmet almak zorunda kalıyor.</a:t>
            </a:r>
            <a:endParaRPr lang="tr-TR" sz="1800" b="0" u="none" strike="noStrike">
              <a:solidFill>
                <a:srgbClr val="ffffff"/>
              </a:solidFill>
              <a:effectLst/>
              <a:uFillTx/>
              <a:latin typeface="Arial"/>
            </a:endParaRPr>
          </a:p>
          <a:p>
            <a:pPr>
              <a:lnSpc>
                <a:spcPct val="100000"/>
              </a:lnSpc>
            </a:pPr>
            <a:endParaRPr lang="tr-TR" sz="1800" b="0" u="none" strike="noStrike">
              <a:solidFill>
                <a:srgbClr val="ffffff"/>
              </a:solidFill>
              <a:effectLst/>
              <a:uFillTx/>
              <a:latin typeface="Arial"/>
            </a:endParaRPr>
          </a:p>
          <a:p>
            <a:pPr marL="216000" indent="-216000">
              <a:lnSpc>
                <a:spcPct val="100000"/>
              </a:lnSpc>
              <a:buClr>
                <a:srgbClr val="ffffff"/>
              </a:buClr>
              <a:buSzPct val="45000"/>
              <a:buFont typeface="Wingdings" charset="2"/>
              <a:buChar char=""/>
            </a:pPr>
            <a:r>
              <a:rPr lang="tr-TR" sz="1800" b="0" u="none" strike="noStrike">
                <a:solidFill>
                  <a:srgbClr val="ffffff"/>
                </a:solidFill>
                <a:effectLst/>
                <a:uFillTx/>
                <a:latin typeface="Arial"/>
                <a:ea typeface="DejaVu Sans"/>
              </a:rPr>
              <a:t>Sektörde hizmet veren yerli firma sayısı az olduğu için ödeme alma imkanları kısıtlıdır.</a:t>
            </a:r>
            <a:endParaRPr lang="tr-TR" sz="1800" b="0" u="none" strike="noStrike">
              <a:solidFill>
                <a:srgbClr val="ffffff"/>
              </a:solidFill>
              <a:effectLst/>
              <a:uFillTx/>
              <a:latin typeface="Arial"/>
            </a:endParaRPr>
          </a:p>
          <a:p>
            <a:pPr>
              <a:lnSpc>
                <a:spcPct val="100000"/>
              </a:lnSpc>
            </a:pPr>
            <a:endParaRPr lang="tr-TR" sz="1800" b="0" u="none" strike="noStrike">
              <a:solidFill>
                <a:srgbClr val="ffffff"/>
              </a:solidFill>
              <a:effectLst/>
              <a:uFillTx/>
              <a:latin typeface="Arial"/>
            </a:endParaRPr>
          </a:p>
          <a:p>
            <a:pPr marL="216000" indent="-216000">
              <a:lnSpc>
                <a:spcPct val="100000"/>
              </a:lnSpc>
              <a:buClr>
                <a:srgbClr val="ffffff"/>
              </a:buClr>
              <a:buSzPct val="45000"/>
              <a:buFont typeface="Wingdings" charset="2"/>
              <a:buChar char=""/>
            </a:pPr>
            <a:r>
              <a:rPr lang="tr-TR" sz="1800" b="0" u="none" strike="noStrike">
                <a:solidFill>
                  <a:srgbClr val="ffffff"/>
                </a:solidFill>
                <a:effectLst/>
                <a:uFillTx/>
                <a:latin typeface="Arial"/>
                <a:ea typeface="DejaVu Sans"/>
              </a:rPr>
              <a:t>Yerli firmalar, yabancı firmalardan farklı olarak sebepsiz nedenlerle siteleri reddebiliyor veya uzun süren inceleme işlemlerinden geçiriyor.</a:t>
            </a:r>
            <a:endParaRPr lang="tr-TR" sz="1800" b="0" u="none" strike="noStrike">
              <a:solidFill>
                <a:srgbClr val="ffffff"/>
              </a:solidFill>
              <a:effectLst/>
              <a:uFillTx/>
              <a:latin typeface="Arial"/>
            </a:endParaRPr>
          </a:p>
          <a:p>
            <a:pPr>
              <a:lnSpc>
                <a:spcPct val="100000"/>
              </a:lnSpc>
            </a:pPr>
            <a:endParaRPr lang="tr-TR" sz="1800" b="0" u="none" strike="noStrike">
              <a:solidFill>
                <a:srgbClr val="ffffff"/>
              </a:solidFill>
              <a:effectLst/>
              <a:uFillTx/>
              <a:latin typeface="Arial"/>
            </a:endParaRPr>
          </a:p>
          <a:p>
            <a:pPr marL="216000" indent="-216000">
              <a:lnSpc>
                <a:spcPct val="100000"/>
              </a:lnSpc>
              <a:buClr>
                <a:srgbClr val="ffffff"/>
              </a:buClr>
              <a:buSzPct val="45000"/>
              <a:buFont typeface="Wingdings" charset="2"/>
              <a:buChar char=""/>
            </a:pPr>
            <a:r>
              <a:rPr lang="tr-TR" sz="1800" b="0" u="none" strike="noStrike">
                <a:solidFill>
                  <a:srgbClr val="ffffff"/>
                </a:solidFill>
                <a:effectLst/>
                <a:uFillTx/>
                <a:latin typeface="Arial"/>
                <a:ea typeface="DejaVu Sans"/>
              </a:rPr>
              <a:t>Sayılı yerli firma olduğu için site sahipleri ödeme bile alamayabiliyor veya ayrı ayrı başvuru ve bekleme süreçleri ile uğraşıyor.</a:t>
            </a:r>
            <a:endParaRPr lang="tr-TR" sz="1800" b="0" u="none" strike="noStrike">
              <a:solidFill>
                <a:srgbClr val="ffffff"/>
              </a:solidFill>
              <a:effectLst/>
              <a:uFillTx/>
              <a:latin typeface="Arial"/>
            </a:endParaRPr>
          </a:p>
          <a:p>
            <a:pPr>
              <a:lnSpc>
                <a:spcPct val="100000"/>
              </a:lnSpc>
            </a:pPr>
            <a:endParaRPr lang="tr-TR" sz="1800" b="0" u="none" strike="noStrike">
              <a:solidFill>
                <a:srgbClr val="ffffff"/>
              </a:solidFill>
              <a:effectLst/>
              <a:uFillTx/>
              <a:latin typeface="Arial"/>
            </a:endParaRPr>
          </a:p>
          <a:p>
            <a:pPr>
              <a:lnSpc>
                <a:spcPct val="100000"/>
              </a:lnSpc>
            </a:pPr>
            <a:endParaRPr lang="tr-TR" sz="1800" b="0" u="none" strike="noStrike">
              <a:solidFill>
                <a:srgbClr val="ffffff"/>
              </a:solidFill>
              <a:effectLst/>
              <a:uFillTx/>
              <a:latin typeface="Arial"/>
            </a:endParaRPr>
          </a:p>
          <a:p>
            <a:pPr>
              <a:lnSpc>
                <a:spcPct val="100000"/>
              </a:lnSpc>
            </a:pPr>
            <a:endParaRPr lang="tr-TR" sz="1800" b="0" u="none" strike="noStrike">
              <a:solidFill>
                <a:srgbClr val="ffffff"/>
              </a:solidFill>
              <a:effectLst/>
              <a:uFillTx/>
              <a:latin typeface="Arial"/>
            </a:endParaRPr>
          </a:p>
        </p:txBody>
      </p:sp>
      <p:sp>
        <p:nvSpPr>
          <p:cNvPr id="38" name=""/>
          <p:cNvSpPr/>
          <p:nvPr/>
        </p:nvSpPr>
        <p:spPr>
          <a:xfrm>
            <a:off x="1620000" y="3060000"/>
            <a:ext cx="2570400" cy="372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tr-TR" sz="2000" b="1" u="none" strike="noStrike">
                <a:solidFill>
                  <a:srgbClr val="ffffff"/>
                </a:solidFill>
                <a:effectLst/>
                <a:uFillTx/>
                <a:latin typeface="Arial"/>
                <a:ea typeface="DejaVu Sans"/>
              </a:rPr>
              <a:t>Ödeme Firmaları [2]</a:t>
            </a:r>
            <a:endParaRPr lang="tr-TR" sz="2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39" name=""/>
          <p:cNvSpPr/>
          <p:nvPr/>
        </p:nvSpPr>
        <p:spPr>
          <a:xfrm>
            <a:off x="2430360" y="180000"/>
            <a:ext cx="5218200" cy="57744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tr-TR" sz="3200" b="1" u="none" strike="noStrike">
                <a:solidFill>
                  <a:srgbClr val="38bdf8"/>
                </a:solidFill>
                <a:effectLst/>
                <a:uFillTx/>
                <a:latin typeface="Arial"/>
                <a:ea typeface="DejaVu Sans"/>
              </a:rPr>
              <a:t>ÇÖZÜMLEME VE ANALİZ</a:t>
            </a:r>
            <a:endParaRPr lang="tr-TR" sz="3200" b="0" u="none" strike="noStrike">
              <a:solidFill>
                <a:srgbClr val="ffffff"/>
              </a:solidFill>
              <a:effectLst/>
              <a:uFillTx/>
              <a:latin typeface="Arial"/>
            </a:endParaRPr>
          </a:p>
        </p:txBody>
      </p:sp>
      <p:sp>
        <p:nvSpPr>
          <p:cNvPr id="40" name=""/>
          <p:cNvSpPr/>
          <p:nvPr/>
        </p:nvSpPr>
        <p:spPr>
          <a:xfrm>
            <a:off x="360000" y="1260000"/>
            <a:ext cx="8458920" cy="4318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tr-TR" sz="2200" b="1" u="none" strike="noStrike">
                <a:solidFill>
                  <a:srgbClr val="e6e905"/>
                </a:solidFill>
                <a:effectLst/>
                <a:uFillTx/>
                <a:latin typeface="Arial"/>
                <a:ea typeface="DejaVu Sans"/>
              </a:rPr>
              <a:t>Paynest Çözümü</a:t>
            </a:r>
            <a:endParaRPr lang="tr-TR" sz="2200" b="0" u="none" strike="noStrike">
              <a:solidFill>
                <a:srgbClr val="ffffff"/>
              </a:solidFill>
              <a:effectLst/>
              <a:uFillTx/>
              <a:latin typeface="Arial"/>
            </a:endParaRPr>
          </a:p>
          <a:p>
            <a:pPr>
              <a:lnSpc>
                <a:spcPct val="100000"/>
              </a:lnSpc>
            </a:pPr>
            <a:r>
              <a:rPr lang="tr-TR" sz="2000" b="0" u="none" strike="noStrike">
                <a:solidFill>
                  <a:srgbClr val="ffffff"/>
                </a:solidFill>
                <a:effectLst/>
                <a:uFillTx/>
                <a:latin typeface="Arial"/>
                <a:ea typeface="DejaVu Sans"/>
              </a:rPr>
              <a:t>Her site için ayrı ayrı başvurmak zorunda değilsiniz. Tek site için alınan onay PayNest ile tüm sitelerde kullanılabilir.</a:t>
            </a:r>
            <a:endParaRPr lang="tr-TR" sz="2000" b="0" u="none" strike="noStrike">
              <a:solidFill>
                <a:srgbClr val="ffffff"/>
              </a:solidFill>
              <a:effectLst/>
              <a:uFillTx/>
              <a:latin typeface="Arial"/>
            </a:endParaRPr>
          </a:p>
          <a:p>
            <a:pPr>
              <a:lnSpc>
                <a:spcPct val="100000"/>
              </a:lnSpc>
            </a:pPr>
            <a:endParaRPr lang="tr-TR" sz="2000" b="0" u="none" strike="noStrike">
              <a:solidFill>
                <a:srgbClr val="ffffff"/>
              </a:solidFill>
              <a:effectLst/>
              <a:uFillTx/>
              <a:latin typeface="Arial"/>
            </a:endParaRPr>
          </a:p>
          <a:p>
            <a:pPr>
              <a:lnSpc>
                <a:spcPct val="100000"/>
              </a:lnSpc>
            </a:pPr>
            <a:r>
              <a:rPr lang="tr-TR" sz="2000" b="0" u="none" strike="noStrike">
                <a:solidFill>
                  <a:srgbClr val="ffffff"/>
                </a:solidFill>
                <a:effectLst/>
                <a:uFillTx/>
                <a:latin typeface="Arial"/>
                <a:ea typeface="DejaVu Sans"/>
              </a:rPr>
              <a:t>Sebepsiz yere reddedilen veya sektörünüze hizmet verilmeyen bir siteniz için PayNest ile ödeme alabilirsiniz.</a:t>
            </a:r>
            <a:endParaRPr lang="tr-TR" sz="2000" b="0" u="none" strike="noStrike">
              <a:solidFill>
                <a:srgbClr val="ffffff"/>
              </a:solidFill>
              <a:effectLst/>
              <a:uFillTx/>
              <a:latin typeface="Arial"/>
            </a:endParaRPr>
          </a:p>
          <a:p>
            <a:pPr>
              <a:lnSpc>
                <a:spcPct val="100000"/>
              </a:lnSpc>
            </a:pPr>
            <a:endParaRPr lang="tr-TR" sz="2000" b="0" u="none" strike="noStrike">
              <a:solidFill>
                <a:srgbClr val="ffffff"/>
              </a:solidFill>
              <a:effectLst/>
              <a:uFillTx/>
              <a:latin typeface="Arial"/>
            </a:endParaRPr>
          </a:p>
          <a:p>
            <a:pPr>
              <a:lnSpc>
                <a:spcPct val="100000"/>
              </a:lnSpc>
            </a:pPr>
            <a:r>
              <a:rPr lang="tr-TR" sz="2000" b="0" u="none" strike="noStrike">
                <a:solidFill>
                  <a:srgbClr val="ffffff"/>
                </a:solidFill>
                <a:effectLst/>
                <a:uFillTx/>
                <a:latin typeface="Arial"/>
                <a:ea typeface="DejaVu Sans"/>
              </a:rPr>
              <a:t>Birden fazla ödeme firması ile çalışıyorsanız ve bunları aktif kullanıyorsanız. Her siteniz için ayrı ayrı ödeme altyapısı kodlatmak ile uğraşmazsınız. Tek PayNest entegrasyonu ile kodları değiştirmeden istediğiniz ödeme firmasından ödeme alabilirsiniz.</a:t>
            </a:r>
            <a:endParaRPr lang="tr-TR" sz="2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41" name=""/>
          <p:cNvSpPr/>
          <p:nvPr/>
        </p:nvSpPr>
        <p:spPr>
          <a:xfrm>
            <a:off x="2430360" y="180000"/>
            <a:ext cx="5218200" cy="57744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tr-TR" sz="3200" b="1" u="none" strike="noStrike">
                <a:solidFill>
                  <a:srgbClr val="38bdf8"/>
                </a:solidFill>
                <a:effectLst/>
                <a:uFillTx/>
                <a:latin typeface="Arial"/>
                <a:ea typeface="DejaVu Sans"/>
              </a:rPr>
              <a:t>TASARIM</a:t>
            </a:r>
            <a:endParaRPr lang="tr-TR" sz="3200" b="0" u="none" strike="noStrike">
              <a:solidFill>
                <a:srgbClr val="ffffff"/>
              </a:solidFill>
              <a:effectLst/>
              <a:uFillTx/>
              <a:latin typeface="Arial"/>
            </a:endParaRPr>
          </a:p>
        </p:txBody>
      </p:sp>
      <p:sp>
        <p:nvSpPr>
          <p:cNvPr id="42" name=""/>
          <p:cNvSpPr/>
          <p:nvPr/>
        </p:nvSpPr>
        <p:spPr>
          <a:xfrm>
            <a:off x="5544000" y="1440000"/>
            <a:ext cx="3330360" cy="39384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endParaRPr lang="tr-TR" sz="1800" b="0" u="none" strike="noStrike">
              <a:solidFill>
                <a:srgbClr val="ffffff"/>
              </a:solidFill>
              <a:effectLst/>
              <a:uFillTx/>
              <a:latin typeface="Arial"/>
              <a:ea typeface="DejaVu Sans"/>
            </a:endParaRPr>
          </a:p>
        </p:txBody>
      </p:sp>
      <p:sp>
        <p:nvSpPr>
          <p:cNvPr id="43" name=""/>
          <p:cNvSpPr/>
          <p:nvPr/>
        </p:nvSpPr>
        <p:spPr>
          <a:xfrm>
            <a:off x="180000" y="1620000"/>
            <a:ext cx="4431600" cy="22240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tr-TR" sz="2000" b="0" u="none" strike="noStrike">
                <a:solidFill>
                  <a:srgbClr val="ffffff"/>
                </a:solidFill>
                <a:effectLst/>
                <a:uFillTx/>
                <a:latin typeface="Arial"/>
                <a:ea typeface="DejaVu Sans"/>
              </a:rPr>
              <a:t>Arayüzler, kodlama aşamasından kağıt üzerinde tasarlanmıştır.</a:t>
            </a:r>
            <a:endParaRPr lang="tr-TR" sz="2000" b="0" u="none" strike="noStrike">
              <a:solidFill>
                <a:srgbClr val="ffffff"/>
              </a:solidFill>
              <a:effectLst/>
              <a:uFillTx/>
              <a:latin typeface="Arial"/>
            </a:endParaRPr>
          </a:p>
          <a:p>
            <a:pPr>
              <a:lnSpc>
                <a:spcPct val="100000"/>
              </a:lnSpc>
            </a:pPr>
            <a:r>
              <a:rPr lang="tr-TR" sz="2000" b="0" u="none" strike="noStrike">
                <a:solidFill>
                  <a:srgbClr val="ffffff"/>
                </a:solidFill>
                <a:effectLst/>
                <a:uFillTx/>
                <a:latin typeface="Arial"/>
                <a:ea typeface="DejaVu Sans"/>
              </a:rPr>
              <a:t>Veri tabanı mimarisi MySQL üzerinde kurgulanmıştır.</a:t>
            </a:r>
            <a:endParaRPr lang="tr-TR" sz="2000" b="0" u="none" strike="noStrike">
              <a:solidFill>
                <a:srgbClr val="ffffff"/>
              </a:solidFill>
              <a:effectLst/>
              <a:uFillTx/>
              <a:latin typeface="Arial"/>
            </a:endParaRPr>
          </a:p>
          <a:p>
            <a:pPr>
              <a:lnSpc>
                <a:spcPct val="100000"/>
              </a:lnSpc>
            </a:pPr>
            <a:r>
              <a:rPr lang="tr-TR" sz="2000" b="0" u="none" strike="noStrike">
                <a:solidFill>
                  <a:srgbClr val="ffffff"/>
                </a:solidFill>
                <a:effectLst/>
                <a:uFillTx/>
                <a:latin typeface="Arial"/>
                <a:ea typeface="DejaVu Sans"/>
              </a:rPr>
              <a:t>Sistemde invoices, customers, pos_keys gibi 7 temel tablo bulunmaktadır.</a:t>
            </a:r>
            <a:endParaRPr lang="tr-TR" sz="2000" b="0" u="none" strike="noStrike">
              <a:solidFill>
                <a:srgbClr val="ffffff"/>
              </a:solidFill>
              <a:effectLst/>
              <a:uFillTx/>
              <a:latin typeface="Arial"/>
            </a:endParaRPr>
          </a:p>
        </p:txBody>
      </p:sp>
      <p:pic>
        <p:nvPicPr>
          <p:cNvPr id="44" name=""/>
          <p:cNvPicPr/>
          <p:nvPr/>
        </p:nvPicPr>
        <p:blipFill>
          <a:blip r:embed="rId2"/>
          <a:stretch/>
        </p:blipFill>
        <p:spPr>
          <a:xfrm>
            <a:off x="4866480" y="928080"/>
            <a:ext cx="2332080" cy="3570480"/>
          </a:xfrm>
          <a:prstGeom prst="rect">
            <a:avLst/>
          </a:prstGeom>
          <a:noFill/>
          <a:ln w="0">
            <a:noFill/>
          </a:ln>
        </p:spPr>
      </p:pic>
      <p:pic>
        <p:nvPicPr>
          <p:cNvPr id="45" name=""/>
          <p:cNvPicPr/>
          <p:nvPr/>
        </p:nvPicPr>
        <p:blipFill>
          <a:blip r:embed="rId3"/>
          <a:stretch/>
        </p:blipFill>
        <p:spPr>
          <a:xfrm>
            <a:off x="7367400" y="1620000"/>
            <a:ext cx="2351160" cy="2284200"/>
          </a:xfrm>
          <a:prstGeom prst="rect">
            <a:avLst/>
          </a:prstGeom>
          <a:noFill/>
          <a:ln w="0">
            <a:noFill/>
          </a:ln>
        </p:spPr>
      </p:pic>
      <p:sp>
        <p:nvSpPr>
          <p:cNvPr id="46" name=""/>
          <p:cNvSpPr/>
          <p:nvPr/>
        </p:nvSpPr>
        <p:spPr>
          <a:xfrm>
            <a:off x="5400000" y="4644720"/>
            <a:ext cx="4498200" cy="39456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tr-TR" sz="2000" b="0" u="none" strike="noStrike">
                <a:solidFill>
                  <a:srgbClr val="ffffff"/>
                </a:solidFill>
                <a:effectLst/>
                <a:uFillTx/>
                <a:latin typeface="Arial"/>
                <a:ea typeface="DejaVu Sans"/>
              </a:rPr>
              <a:t>Paynest Veritabanı Yapısı </a:t>
            </a:r>
            <a:endParaRPr lang="tr-TR" sz="2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47" name=""/>
          <p:cNvSpPr/>
          <p:nvPr/>
        </p:nvSpPr>
        <p:spPr>
          <a:xfrm>
            <a:off x="2430360" y="180000"/>
            <a:ext cx="5218200" cy="57744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tr-TR" sz="3200" b="1" u="none" strike="noStrike">
                <a:solidFill>
                  <a:srgbClr val="38bdf8"/>
                </a:solidFill>
                <a:effectLst/>
                <a:uFillTx/>
                <a:latin typeface="Arial"/>
                <a:ea typeface="DejaVu Sans"/>
              </a:rPr>
              <a:t>TASARIM</a:t>
            </a:r>
            <a:endParaRPr lang="tr-TR" sz="3200" b="0" u="none" strike="noStrike">
              <a:solidFill>
                <a:srgbClr val="ffffff"/>
              </a:solidFill>
              <a:effectLst/>
              <a:uFillTx/>
              <a:latin typeface="Arial"/>
            </a:endParaRPr>
          </a:p>
        </p:txBody>
      </p:sp>
      <p:sp>
        <p:nvSpPr>
          <p:cNvPr id="48" name=""/>
          <p:cNvSpPr/>
          <p:nvPr/>
        </p:nvSpPr>
        <p:spPr>
          <a:xfrm>
            <a:off x="5544000" y="1440000"/>
            <a:ext cx="3330360" cy="393840"/>
          </a:xfrm>
          <a:prstGeom prst="rect">
            <a:avLst/>
          </a:prstGeom>
          <a:noFill/>
          <a:ln w="0">
            <a:noFill/>
          </a:ln>
        </p:spPr>
        <p:style>
          <a:lnRef idx="0"/>
          <a:fillRef idx="0"/>
          <a:effectRef idx="0"/>
          <a:fontRef idx="minor"/>
        </p:style>
        <p:txBody>
          <a:bodyPr lIns="90000" rIns="90000" tIns="45000" bIns="45000" anchor="t" anchorCtr="1">
            <a:spAutoFit/>
          </a:bodyPr>
          <a:p>
            <a:pPr>
              <a:lnSpc>
                <a:spcPct val="100000"/>
              </a:lnSpc>
            </a:pPr>
            <a:endParaRPr lang="tr-TR" sz="1800" b="0" u="none" strike="noStrike">
              <a:solidFill>
                <a:srgbClr val="ffffff"/>
              </a:solidFill>
              <a:effectLst/>
              <a:uFillTx/>
              <a:latin typeface="Arial"/>
              <a:ea typeface="DejaVu Sans"/>
            </a:endParaRPr>
          </a:p>
        </p:txBody>
      </p:sp>
      <p:pic>
        <p:nvPicPr>
          <p:cNvPr id="49" name=""/>
          <p:cNvPicPr/>
          <p:nvPr/>
        </p:nvPicPr>
        <p:blipFill>
          <a:blip r:embed="rId2"/>
          <a:stretch/>
        </p:blipFill>
        <p:spPr>
          <a:xfrm>
            <a:off x="2880000" y="900000"/>
            <a:ext cx="7018920" cy="3803040"/>
          </a:xfrm>
          <a:prstGeom prst="rect">
            <a:avLst/>
          </a:prstGeom>
          <a:noFill/>
          <a:ln w="0">
            <a:noFill/>
          </a:ln>
        </p:spPr>
      </p:pic>
      <p:sp>
        <p:nvSpPr>
          <p:cNvPr id="50" name=""/>
          <p:cNvSpPr/>
          <p:nvPr/>
        </p:nvSpPr>
        <p:spPr>
          <a:xfrm>
            <a:off x="180000" y="1260000"/>
            <a:ext cx="2698920" cy="4318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tr-TR" sz="2000" b="0" u="none" strike="noStrike">
                <a:solidFill>
                  <a:srgbClr val="ffffff"/>
                </a:solidFill>
                <a:effectLst/>
                <a:uFillTx/>
                <a:latin typeface="Arial"/>
                <a:ea typeface="DejaVu Sans"/>
              </a:rPr>
              <a:t>Panel basit ve anlaşılır bir tasarım ile yapılmıştır. Anasayfa da basit fatura özetleri, son faturalar, son müşteriler ve ürünler gibi hızlıca erişim sağlanabilecek sekmeler bulunmaktadır.</a:t>
            </a:r>
            <a:endParaRPr lang="tr-TR" sz="2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51" name=""/>
          <p:cNvSpPr/>
          <p:nvPr/>
        </p:nvSpPr>
        <p:spPr>
          <a:xfrm>
            <a:off x="2430360" y="180000"/>
            <a:ext cx="5218200" cy="57744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tr-TR" sz="3200" b="1" u="none" strike="noStrike">
                <a:solidFill>
                  <a:srgbClr val="38bdf8"/>
                </a:solidFill>
                <a:effectLst/>
                <a:uFillTx/>
                <a:latin typeface="Arial"/>
                <a:ea typeface="DejaVu Sans"/>
              </a:rPr>
              <a:t>TASARIM</a:t>
            </a:r>
            <a:endParaRPr lang="tr-TR" sz="3200" b="0" u="none" strike="noStrike">
              <a:solidFill>
                <a:srgbClr val="ffffff"/>
              </a:solidFill>
              <a:effectLst/>
              <a:uFillTx/>
              <a:latin typeface="Arial"/>
            </a:endParaRPr>
          </a:p>
        </p:txBody>
      </p:sp>
      <p:sp>
        <p:nvSpPr>
          <p:cNvPr id="52" name=""/>
          <p:cNvSpPr/>
          <p:nvPr/>
        </p:nvSpPr>
        <p:spPr>
          <a:xfrm>
            <a:off x="5544000" y="1440000"/>
            <a:ext cx="3330360" cy="393840"/>
          </a:xfrm>
          <a:prstGeom prst="rect">
            <a:avLst/>
          </a:prstGeom>
          <a:noFill/>
          <a:ln w="0">
            <a:noFill/>
          </a:ln>
        </p:spPr>
        <p:style>
          <a:lnRef idx="0"/>
          <a:fillRef idx="0"/>
          <a:effectRef idx="0"/>
          <a:fontRef idx="minor"/>
        </p:style>
        <p:txBody>
          <a:bodyPr lIns="90000" rIns="90000" tIns="45000" bIns="45000" anchor="t" anchorCtr="1">
            <a:spAutoFit/>
          </a:bodyPr>
          <a:p>
            <a:pPr>
              <a:lnSpc>
                <a:spcPct val="100000"/>
              </a:lnSpc>
            </a:pPr>
            <a:endParaRPr lang="tr-TR" sz="1800" b="0" u="none" strike="noStrike">
              <a:solidFill>
                <a:srgbClr val="ffffff"/>
              </a:solidFill>
              <a:effectLst/>
              <a:uFillTx/>
              <a:latin typeface="Arial"/>
              <a:ea typeface="DejaVu Sans"/>
            </a:endParaRPr>
          </a:p>
        </p:txBody>
      </p:sp>
      <p:pic>
        <p:nvPicPr>
          <p:cNvPr id="53" name=""/>
          <p:cNvPicPr/>
          <p:nvPr/>
        </p:nvPicPr>
        <p:blipFill>
          <a:blip r:embed="rId2"/>
          <a:stretch/>
        </p:blipFill>
        <p:spPr>
          <a:xfrm>
            <a:off x="5400000" y="757440"/>
            <a:ext cx="3778920" cy="4761000"/>
          </a:xfrm>
          <a:prstGeom prst="rect">
            <a:avLst/>
          </a:prstGeom>
          <a:noFill/>
          <a:ln w="0">
            <a:noFill/>
          </a:ln>
        </p:spPr>
      </p:pic>
      <p:sp>
        <p:nvSpPr>
          <p:cNvPr id="54" name=""/>
          <p:cNvSpPr/>
          <p:nvPr/>
        </p:nvSpPr>
        <p:spPr>
          <a:xfrm>
            <a:off x="180000" y="1620000"/>
            <a:ext cx="5038920" cy="4858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tr-TR" sz="2000" b="0" u="none" strike="noStrike">
                <a:solidFill>
                  <a:srgbClr val="ffffff"/>
                </a:solidFill>
                <a:effectLst/>
                <a:uFillTx/>
                <a:latin typeface="Arial"/>
                <a:ea typeface="DejaVu Sans"/>
              </a:rPr>
              <a:t>Yönetici panelden basit ürün yükleyebilir, bunların açıklamasını, özelliklerini, kdv tutarını/fiyatını, resmini girerek link alabilir. Bu linki internette paylaşarak bu ürünü tek sayfa üzerinden pazarlayabilir. Müşteri bilgilerini girerek fatura kısmına yönlendirilir ve hızlıca sipariş geçebilir.</a:t>
            </a:r>
            <a:endParaRPr lang="tr-TR" sz="2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55" name=""/>
          <p:cNvSpPr/>
          <p:nvPr/>
        </p:nvSpPr>
        <p:spPr>
          <a:xfrm>
            <a:off x="2430360" y="180000"/>
            <a:ext cx="5218200" cy="57744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tr-TR" sz="3200" b="1" u="none" strike="noStrike">
                <a:solidFill>
                  <a:srgbClr val="38bdf8"/>
                </a:solidFill>
                <a:effectLst/>
                <a:uFillTx/>
                <a:latin typeface="Arial"/>
                <a:ea typeface="DejaVu Sans"/>
              </a:rPr>
              <a:t>TASARIM</a:t>
            </a:r>
            <a:endParaRPr lang="tr-TR" sz="3200" b="0" u="none" strike="noStrike">
              <a:solidFill>
                <a:srgbClr val="ffffff"/>
              </a:solidFill>
              <a:effectLst/>
              <a:uFillTx/>
              <a:latin typeface="Arial"/>
            </a:endParaRPr>
          </a:p>
        </p:txBody>
      </p:sp>
      <p:sp>
        <p:nvSpPr>
          <p:cNvPr id="56" name=""/>
          <p:cNvSpPr/>
          <p:nvPr/>
        </p:nvSpPr>
        <p:spPr>
          <a:xfrm>
            <a:off x="5544000" y="1440000"/>
            <a:ext cx="3330360" cy="393840"/>
          </a:xfrm>
          <a:prstGeom prst="rect">
            <a:avLst/>
          </a:prstGeom>
          <a:noFill/>
          <a:ln w="0">
            <a:noFill/>
          </a:ln>
        </p:spPr>
        <p:style>
          <a:lnRef idx="0"/>
          <a:fillRef idx="0"/>
          <a:effectRef idx="0"/>
          <a:fontRef idx="minor"/>
        </p:style>
        <p:txBody>
          <a:bodyPr lIns="90000" rIns="90000" tIns="45000" bIns="45000" anchor="t" anchorCtr="1">
            <a:spAutoFit/>
          </a:bodyPr>
          <a:p>
            <a:pPr>
              <a:lnSpc>
                <a:spcPct val="100000"/>
              </a:lnSpc>
            </a:pPr>
            <a:endParaRPr lang="tr-TR" sz="1800" b="0" u="none" strike="noStrike">
              <a:solidFill>
                <a:srgbClr val="ffffff"/>
              </a:solidFill>
              <a:effectLst/>
              <a:uFillTx/>
              <a:latin typeface="Arial"/>
              <a:ea typeface="DejaVu Sans"/>
            </a:endParaRPr>
          </a:p>
        </p:txBody>
      </p:sp>
      <p:sp>
        <p:nvSpPr>
          <p:cNvPr id="57" name=""/>
          <p:cNvSpPr/>
          <p:nvPr/>
        </p:nvSpPr>
        <p:spPr>
          <a:xfrm>
            <a:off x="180000" y="1260000"/>
            <a:ext cx="3958920" cy="4318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tr-TR" sz="2000" b="0" u="none" strike="noStrike">
                <a:solidFill>
                  <a:srgbClr val="ffffff"/>
                </a:solidFill>
                <a:effectLst/>
                <a:uFillTx/>
                <a:latin typeface="Arial"/>
                <a:ea typeface="DejaVu Sans"/>
              </a:rPr>
              <a:t>Fatura ödeme kısmında da yine tüm yazılımda olduğu gibi anlaşılır, basit bir tasarım amaçlanmıştır. Müşteri iletilen linke girdiğinde kendisini fatura detayları ve ödeme yöntemleri karşılamaktadır. Ödeme yöntemini seçip ödeyebilir ve ardından faturayı dilerse yazdır butonundan pdf formatın da kaydedebilir veya çıktı alabilir.</a:t>
            </a:r>
            <a:endParaRPr lang="tr-TR" sz="2000" b="0" u="none" strike="noStrike">
              <a:solidFill>
                <a:srgbClr val="ffffff"/>
              </a:solidFill>
              <a:effectLst/>
              <a:uFillTx/>
              <a:latin typeface="Arial"/>
            </a:endParaRPr>
          </a:p>
        </p:txBody>
      </p:sp>
      <p:pic>
        <p:nvPicPr>
          <p:cNvPr id="58" name=""/>
          <p:cNvPicPr/>
          <p:nvPr/>
        </p:nvPicPr>
        <p:blipFill>
          <a:blip r:embed="rId2"/>
          <a:stretch/>
        </p:blipFill>
        <p:spPr>
          <a:xfrm>
            <a:off x="4314600" y="962280"/>
            <a:ext cx="5584320" cy="461664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59" name=""/>
          <p:cNvSpPr/>
          <p:nvPr/>
        </p:nvSpPr>
        <p:spPr>
          <a:xfrm>
            <a:off x="1125720" y="180000"/>
            <a:ext cx="7828200" cy="57744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tr-TR" sz="3200" b="1" u="none" strike="noStrike">
                <a:solidFill>
                  <a:srgbClr val="38bdf8"/>
                </a:solidFill>
                <a:effectLst/>
                <a:uFillTx/>
                <a:latin typeface="Arial"/>
                <a:ea typeface="DejaVu Sans"/>
              </a:rPr>
              <a:t>GERÇEKLEŞTİRİM VE KODLAMA</a:t>
            </a:r>
            <a:endParaRPr lang="tr-TR" sz="3200" b="0" u="none" strike="noStrike">
              <a:solidFill>
                <a:srgbClr val="ffffff"/>
              </a:solidFill>
              <a:effectLst/>
              <a:uFillTx/>
              <a:latin typeface="Arial"/>
            </a:endParaRPr>
          </a:p>
        </p:txBody>
      </p:sp>
      <p:sp>
        <p:nvSpPr>
          <p:cNvPr id="60" name=""/>
          <p:cNvSpPr/>
          <p:nvPr/>
        </p:nvSpPr>
        <p:spPr>
          <a:xfrm>
            <a:off x="5544000" y="1440000"/>
            <a:ext cx="3330360" cy="393840"/>
          </a:xfrm>
          <a:prstGeom prst="rect">
            <a:avLst/>
          </a:prstGeom>
          <a:noFill/>
          <a:ln w="0">
            <a:noFill/>
          </a:ln>
        </p:spPr>
        <p:style>
          <a:lnRef idx="0"/>
          <a:fillRef idx="0"/>
          <a:effectRef idx="0"/>
          <a:fontRef idx="minor"/>
        </p:style>
        <p:txBody>
          <a:bodyPr lIns="90000" rIns="90000" tIns="45000" bIns="45000" anchor="t" anchorCtr="1">
            <a:spAutoFit/>
          </a:bodyPr>
          <a:p>
            <a:pPr>
              <a:lnSpc>
                <a:spcPct val="100000"/>
              </a:lnSpc>
            </a:pPr>
            <a:endParaRPr lang="tr-TR" sz="1800" b="0" u="none" strike="noStrike">
              <a:solidFill>
                <a:srgbClr val="ffffff"/>
              </a:solidFill>
              <a:effectLst/>
              <a:uFillTx/>
              <a:latin typeface="Arial"/>
              <a:ea typeface="DejaVu Sans"/>
            </a:endParaRPr>
          </a:p>
        </p:txBody>
      </p:sp>
      <p:sp>
        <p:nvSpPr>
          <p:cNvPr id="61" name=""/>
          <p:cNvSpPr/>
          <p:nvPr/>
        </p:nvSpPr>
        <p:spPr>
          <a:xfrm>
            <a:off x="246960" y="1360440"/>
            <a:ext cx="4431600" cy="3138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tr-TR" sz="2000" b="0" u="none" strike="noStrike">
                <a:solidFill>
                  <a:srgbClr val="ffffff"/>
                </a:solidFill>
                <a:effectLst/>
                <a:uFillTx/>
                <a:latin typeface="Arial"/>
                <a:ea typeface="DejaVu Sans"/>
              </a:rPr>
              <a:t>Yazılımın temel iskeleti ve API servisleri PHP tabanlı Laravel framework kullanılarak kodlanmıştır.</a:t>
            </a:r>
            <a:endParaRPr lang="tr-TR" sz="2000" b="0" u="none" strike="noStrike">
              <a:solidFill>
                <a:srgbClr val="ffffff"/>
              </a:solidFill>
              <a:effectLst/>
              <a:uFillTx/>
              <a:latin typeface="Arial"/>
            </a:endParaRPr>
          </a:p>
          <a:p>
            <a:pPr>
              <a:lnSpc>
                <a:spcPct val="100000"/>
              </a:lnSpc>
            </a:pPr>
            <a:r>
              <a:rPr lang="tr-TR" sz="2000" b="0" u="none" strike="noStrike">
                <a:solidFill>
                  <a:srgbClr val="ffffff"/>
                </a:solidFill>
                <a:effectLst/>
                <a:uFillTx/>
                <a:latin typeface="Arial"/>
                <a:ea typeface="DejaVu Sans"/>
              </a:rPr>
              <a:t>Güvenlik aşamaları için webhook/callback doğrulama algoritmaları entegre edilmiştir.</a:t>
            </a:r>
            <a:endParaRPr lang="tr-TR" sz="2000" b="0" u="none" strike="noStrike">
              <a:solidFill>
                <a:srgbClr val="ffffff"/>
              </a:solidFill>
              <a:effectLst/>
              <a:uFillTx/>
              <a:latin typeface="Arial"/>
            </a:endParaRPr>
          </a:p>
          <a:p>
            <a:pPr>
              <a:lnSpc>
                <a:spcPct val="100000"/>
              </a:lnSpc>
            </a:pPr>
            <a:r>
              <a:rPr lang="tr-TR" sz="2000" b="0" u="none" strike="noStrike">
                <a:solidFill>
                  <a:srgbClr val="ffffff"/>
                </a:solidFill>
                <a:effectLst/>
                <a:uFillTx/>
                <a:latin typeface="Arial"/>
                <a:ea typeface="DejaVu Sans"/>
              </a:rPr>
              <a:t>Stripe altyapısının sağladığı sandbox test hesapları üzerinden ödeme simülasyonları gerçekleştirilmiştir.</a:t>
            </a:r>
            <a:endParaRPr lang="tr-TR" sz="2000" b="0" u="none" strike="noStrike">
              <a:solidFill>
                <a:srgbClr val="ffffff"/>
              </a:solidFill>
              <a:effectLst/>
              <a:uFillTx/>
              <a:latin typeface="Arial"/>
            </a:endParaRPr>
          </a:p>
          <a:p>
            <a:pPr>
              <a:lnSpc>
                <a:spcPct val="100000"/>
              </a:lnSpc>
            </a:pPr>
            <a:endParaRPr lang="tr-TR" sz="2000" b="0" u="none" strike="noStrike">
              <a:solidFill>
                <a:srgbClr val="ffffff"/>
              </a:solidFill>
              <a:effectLst/>
              <a:uFillTx/>
              <a:latin typeface="Arial"/>
            </a:endParaRPr>
          </a:p>
        </p:txBody>
      </p:sp>
      <p:pic>
        <p:nvPicPr>
          <p:cNvPr id="62" name=""/>
          <p:cNvPicPr/>
          <p:nvPr/>
        </p:nvPicPr>
        <p:blipFill>
          <a:blip r:embed="rId2"/>
          <a:stretch/>
        </p:blipFill>
        <p:spPr>
          <a:xfrm>
            <a:off x="4679280" y="1360440"/>
            <a:ext cx="5335920" cy="289116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63" name=""/>
          <p:cNvSpPr/>
          <p:nvPr/>
        </p:nvSpPr>
        <p:spPr>
          <a:xfrm>
            <a:off x="1125720" y="180000"/>
            <a:ext cx="7828200" cy="57744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tr-TR" sz="3200" b="1" u="none" strike="noStrike">
                <a:solidFill>
                  <a:srgbClr val="38bdf8"/>
                </a:solidFill>
                <a:effectLst/>
                <a:uFillTx/>
                <a:latin typeface="Arial"/>
                <a:ea typeface="DejaVu Sans"/>
              </a:rPr>
              <a:t>BAKIM VE DESTEK</a:t>
            </a:r>
            <a:endParaRPr lang="tr-TR" sz="3200" b="0" u="none" strike="noStrike">
              <a:solidFill>
                <a:srgbClr val="ffffff"/>
              </a:solidFill>
              <a:effectLst/>
              <a:uFillTx/>
              <a:latin typeface="Arial"/>
            </a:endParaRPr>
          </a:p>
        </p:txBody>
      </p:sp>
      <p:sp>
        <p:nvSpPr>
          <p:cNvPr id="64" name=""/>
          <p:cNvSpPr/>
          <p:nvPr/>
        </p:nvSpPr>
        <p:spPr>
          <a:xfrm>
            <a:off x="5544000" y="1440000"/>
            <a:ext cx="3330360" cy="393840"/>
          </a:xfrm>
          <a:prstGeom prst="rect">
            <a:avLst/>
          </a:prstGeom>
          <a:noFill/>
          <a:ln w="0">
            <a:noFill/>
          </a:ln>
        </p:spPr>
        <p:style>
          <a:lnRef idx="0"/>
          <a:fillRef idx="0"/>
          <a:effectRef idx="0"/>
          <a:fontRef idx="minor"/>
        </p:style>
        <p:txBody>
          <a:bodyPr lIns="90000" rIns="90000" tIns="45000" bIns="45000" anchor="t" anchorCtr="1">
            <a:spAutoFit/>
          </a:bodyPr>
          <a:p>
            <a:pPr>
              <a:lnSpc>
                <a:spcPct val="100000"/>
              </a:lnSpc>
            </a:pPr>
            <a:endParaRPr lang="tr-TR" sz="1800" b="0" u="none" strike="noStrike">
              <a:solidFill>
                <a:srgbClr val="ffffff"/>
              </a:solidFill>
              <a:effectLst/>
              <a:uFillTx/>
              <a:latin typeface="Arial"/>
              <a:ea typeface="DejaVu Sans"/>
            </a:endParaRPr>
          </a:p>
        </p:txBody>
      </p:sp>
      <p:sp>
        <p:nvSpPr>
          <p:cNvPr id="65" name=""/>
          <p:cNvSpPr/>
          <p:nvPr/>
        </p:nvSpPr>
        <p:spPr>
          <a:xfrm>
            <a:off x="360000" y="1080000"/>
            <a:ext cx="9358920" cy="4498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tr-TR" sz="2000" b="0" u="none" strike="noStrike">
                <a:solidFill>
                  <a:srgbClr val="ffffff"/>
                </a:solidFill>
                <a:effectLst/>
                <a:uFillTx/>
                <a:latin typeface="Arial"/>
                <a:ea typeface="DejaVu Sans"/>
              </a:rPr>
              <a:t>Proje kolay güncellenebilmesi ve geliştirilebilmesi için Laravel ile geliştirilmiştir. Böylece projeye hakim olmayan birisi Laravel biliyor ise dosya yollarına hakim olacak ve bir süre inceleme yaparak projeye kısa sürede hakim olabilecektir.</a:t>
            </a:r>
            <a:endParaRPr lang="tr-TR" sz="2000" b="0" u="none" strike="noStrike">
              <a:solidFill>
                <a:srgbClr val="ffffff"/>
              </a:solidFill>
              <a:effectLst/>
              <a:uFillTx/>
              <a:latin typeface="Arial"/>
            </a:endParaRPr>
          </a:p>
          <a:p>
            <a:pPr>
              <a:lnSpc>
                <a:spcPct val="100000"/>
              </a:lnSpc>
            </a:pPr>
            <a:endParaRPr lang="tr-TR" sz="2000" b="0" u="none" strike="noStrike">
              <a:solidFill>
                <a:srgbClr val="ffffff"/>
              </a:solidFill>
              <a:effectLst/>
              <a:uFillTx/>
              <a:latin typeface="Arial"/>
            </a:endParaRPr>
          </a:p>
          <a:p>
            <a:pPr>
              <a:lnSpc>
                <a:spcPct val="100000"/>
              </a:lnSpc>
            </a:pPr>
            <a:r>
              <a:rPr lang="tr-TR" sz="2000" b="0" u="none" strike="noStrike">
                <a:solidFill>
                  <a:srgbClr val="ffffff"/>
                </a:solidFill>
                <a:effectLst/>
                <a:uFillTx/>
                <a:latin typeface="Arial"/>
                <a:ea typeface="DejaVu Sans"/>
              </a:rPr>
              <a:t>Proje bakımı ve geliştirmesi kolay olması amacı ile farklı controller ve view dosyaları kullanılmış, ekstra ödeme firması eklemek isteyenler için işlemler kolaylaştırılmıştır.</a:t>
            </a:r>
            <a:endParaRPr lang="tr-TR" sz="2000" b="0" u="none" strike="noStrike">
              <a:solidFill>
                <a:srgbClr val="ffffff"/>
              </a:solidFill>
              <a:effectLst/>
              <a:uFillTx/>
              <a:latin typeface="Arial"/>
            </a:endParaRPr>
          </a:p>
          <a:p>
            <a:pPr>
              <a:lnSpc>
                <a:spcPct val="100000"/>
              </a:lnSpc>
            </a:pPr>
            <a:endParaRPr lang="tr-TR" sz="2000" b="0" u="none" strike="noStrike">
              <a:solidFill>
                <a:srgbClr val="ffffff"/>
              </a:solidFill>
              <a:effectLst/>
              <a:uFillTx/>
              <a:latin typeface="Arial"/>
            </a:endParaRPr>
          </a:p>
          <a:p>
            <a:pPr>
              <a:lnSpc>
                <a:spcPct val="100000"/>
              </a:lnSpc>
            </a:pPr>
            <a:r>
              <a:rPr lang="tr-TR" sz="2000" b="0" u="none" strike="noStrike">
                <a:solidFill>
                  <a:srgbClr val="ffffff"/>
                </a:solidFill>
                <a:effectLst/>
                <a:uFillTx/>
                <a:latin typeface="Arial"/>
                <a:ea typeface="DejaVu Sans"/>
              </a:rPr>
              <a:t>Api kısmı için gerekli ve detaylı açıklamalar site üzerinden yapılmış ve sonradan entegre edilen bir ödeme firması için yapılmamışsa hataya düşmemesi için gerekli altyapı kodlanmıştır.</a:t>
            </a:r>
            <a:endParaRPr lang="tr-TR" sz="2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66" name=""/>
          <p:cNvSpPr/>
          <p:nvPr/>
        </p:nvSpPr>
        <p:spPr>
          <a:xfrm>
            <a:off x="1125720" y="180000"/>
            <a:ext cx="7828200" cy="57744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tr-TR" sz="3200" b="1" u="none" strike="noStrike">
                <a:solidFill>
                  <a:srgbClr val="38bdf8"/>
                </a:solidFill>
                <a:effectLst/>
                <a:uFillTx/>
                <a:latin typeface="Arial"/>
                <a:ea typeface="DejaVu Sans"/>
              </a:rPr>
              <a:t>SONUÇ</a:t>
            </a:r>
            <a:endParaRPr lang="tr-TR" sz="3200" b="0" u="none" strike="noStrike">
              <a:solidFill>
                <a:srgbClr val="ffffff"/>
              </a:solidFill>
              <a:effectLst/>
              <a:uFillTx/>
              <a:latin typeface="Arial"/>
            </a:endParaRPr>
          </a:p>
        </p:txBody>
      </p:sp>
      <p:sp>
        <p:nvSpPr>
          <p:cNvPr id="67" name=""/>
          <p:cNvSpPr/>
          <p:nvPr/>
        </p:nvSpPr>
        <p:spPr>
          <a:xfrm>
            <a:off x="5544000" y="1440000"/>
            <a:ext cx="3330360" cy="393840"/>
          </a:xfrm>
          <a:prstGeom prst="rect">
            <a:avLst/>
          </a:prstGeom>
          <a:noFill/>
          <a:ln w="0">
            <a:noFill/>
          </a:ln>
        </p:spPr>
        <p:style>
          <a:lnRef idx="0"/>
          <a:fillRef idx="0"/>
          <a:effectRef idx="0"/>
          <a:fontRef idx="minor"/>
        </p:style>
        <p:txBody>
          <a:bodyPr lIns="90000" rIns="90000" tIns="45000" bIns="45000" anchor="t" anchorCtr="1">
            <a:spAutoFit/>
          </a:bodyPr>
          <a:p>
            <a:pPr>
              <a:lnSpc>
                <a:spcPct val="100000"/>
              </a:lnSpc>
            </a:pPr>
            <a:endParaRPr lang="tr-TR" sz="1800" b="0" u="none" strike="noStrike">
              <a:solidFill>
                <a:srgbClr val="ffffff"/>
              </a:solidFill>
              <a:effectLst/>
              <a:uFillTx/>
              <a:latin typeface="Arial"/>
              <a:ea typeface="DejaVu Sans"/>
            </a:endParaRPr>
          </a:p>
        </p:txBody>
      </p:sp>
      <p:sp>
        <p:nvSpPr>
          <p:cNvPr id="68" name=""/>
          <p:cNvSpPr/>
          <p:nvPr/>
        </p:nvSpPr>
        <p:spPr>
          <a:xfrm>
            <a:off x="360000" y="1260000"/>
            <a:ext cx="9358920" cy="3778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tr-TR" sz="2000" b="0" u="none" strike="noStrike">
                <a:solidFill>
                  <a:srgbClr val="ffffff"/>
                </a:solidFill>
                <a:effectLst/>
                <a:uFillTx/>
                <a:latin typeface="Arial"/>
                <a:ea typeface="DejaVu Sans"/>
              </a:rPr>
              <a:t>PayNest api ile iletişimlerde başarıyla ödeme linki oluşturup, ödeme firmalarını birleştirerek asıl amacına ulaşmıştır.</a:t>
            </a:r>
            <a:endParaRPr lang="tr-TR" sz="2000" b="0" u="none" strike="noStrike">
              <a:solidFill>
                <a:srgbClr val="ffffff"/>
              </a:solidFill>
              <a:effectLst/>
              <a:uFillTx/>
              <a:latin typeface="Arial"/>
            </a:endParaRPr>
          </a:p>
          <a:p>
            <a:pPr>
              <a:lnSpc>
                <a:spcPct val="100000"/>
              </a:lnSpc>
            </a:pPr>
            <a:endParaRPr lang="tr-TR" sz="2000" b="0" u="none" strike="noStrike">
              <a:solidFill>
                <a:srgbClr val="ffffff"/>
              </a:solidFill>
              <a:effectLst/>
              <a:uFillTx/>
              <a:latin typeface="Arial"/>
            </a:endParaRPr>
          </a:p>
          <a:p>
            <a:pPr>
              <a:lnSpc>
                <a:spcPct val="100000"/>
              </a:lnSpc>
            </a:pPr>
            <a:r>
              <a:rPr lang="tr-TR" sz="2000" b="0" u="none" strike="noStrike">
                <a:solidFill>
                  <a:srgbClr val="ffffff"/>
                </a:solidFill>
                <a:effectLst/>
                <a:uFillTx/>
                <a:latin typeface="Arial"/>
                <a:ea typeface="DejaVu Sans"/>
              </a:rPr>
              <a:t>Önerilere ve isteklere bağlı olarak aşağıda ki;</a:t>
            </a:r>
            <a:endParaRPr lang="tr-TR" sz="2000" b="0" u="none" strike="noStrike">
              <a:solidFill>
                <a:srgbClr val="ffffff"/>
              </a:solidFill>
              <a:effectLst/>
              <a:uFillTx/>
              <a:latin typeface="Arial"/>
            </a:endParaRPr>
          </a:p>
          <a:p>
            <a:pPr marL="216000" indent="-216000">
              <a:lnSpc>
                <a:spcPct val="100000"/>
              </a:lnSpc>
              <a:buClr>
                <a:srgbClr val="ffffff"/>
              </a:buClr>
              <a:buSzPct val="45000"/>
              <a:buFont typeface="Wingdings" charset="2"/>
              <a:buChar char=""/>
            </a:pPr>
            <a:r>
              <a:rPr lang="tr-TR" sz="2000" b="0" u="none" strike="noStrike">
                <a:solidFill>
                  <a:srgbClr val="ffffff"/>
                </a:solidFill>
                <a:effectLst/>
                <a:uFillTx/>
                <a:latin typeface="Arial"/>
                <a:ea typeface="DejaVu Sans"/>
              </a:rPr>
              <a:t>Detaylı ciro istatistikleri,</a:t>
            </a:r>
            <a:endParaRPr lang="tr-TR" sz="2000" b="0" u="none" strike="noStrike">
              <a:solidFill>
                <a:srgbClr val="ffffff"/>
              </a:solidFill>
              <a:effectLst/>
              <a:uFillTx/>
              <a:latin typeface="Arial"/>
            </a:endParaRPr>
          </a:p>
          <a:p>
            <a:pPr marL="216000" indent="-216000">
              <a:lnSpc>
                <a:spcPct val="100000"/>
              </a:lnSpc>
              <a:buClr>
                <a:srgbClr val="ffffff"/>
              </a:buClr>
              <a:buSzPct val="45000"/>
              <a:buFont typeface="Wingdings" charset="2"/>
              <a:buChar char=""/>
            </a:pPr>
            <a:r>
              <a:rPr lang="tr-TR" sz="2000" b="0" u="none" strike="noStrike">
                <a:solidFill>
                  <a:srgbClr val="ffffff"/>
                </a:solidFill>
                <a:effectLst/>
                <a:uFillTx/>
                <a:latin typeface="Arial"/>
                <a:ea typeface="DejaVu Sans"/>
              </a:rPr>
              <a:t>Kullanıcı yetkilendirme (örn; muhasebeci hesabı, yetkili hesabı, admin hesabı),</a:t>
            </a:r>
            <a:endParaRPr lang="tr-TR" sz="2000" b="0" u="none" strike="noStrike">
              <a:solidFill>
                <a:srgbClr val="ffffff"/>
              </a:solidFill>
              <a:effectLst/>
              <a:uFillTx/>
              <a:latin typeface="Arial"/>
            </a:endParaRPr>
          </a:p>
          <a:p>
            <a:pPr marL="216000" indent="-216000">
              <a:lnSpc>
                <a:spcPct val="100000"/>
              </a:lnSpc>
              <a:buClr>
                <a:srgbClr val="ffffff"/>
              </a:buClr>
              <a:buSzPct val="45000"/>
              <a:buFont typeface="Wingdings" charset="2"/>
              <a:buChar char=""/>
            </a:pPr>
            <a:r>
              <a:rPr lang="tr-TR" sz="2000" b="0" u="none" strike="noStrike">
                <a:solidFill>
                  <a:srgbClr val="ffffff"/>
                </a:solidFill>
                <a:effectLst/>
                <a:uFillTx/>
                <a:latin typeface="Arial"/>
                <a:ea typeface="DejaVu Sans"/>
              </a:rPr>
              <a:t>Ürünler için mağaza sayfası,</a:t>
            </a:r>
            <a:endParaRPr lang="tr-TR" sz="2000" b="0" u="none" strike="noStrike">
              <a:solidFill>
                <a:srgbClr val="ffffff"/>
              </a:solidFill>
              <a:effectLst/>
              <a:uFillTx/>
              <a:latin typeface="Arial"/>
            </a:endParaRPr>
          </a:p>
          <a:p>
            <a:pPr marL="216000" indent="-216000">
              <a:lnSpc>
                <a:spcPct val="100000"/>
              </a:lnSpc>
              <a:buClr>
                <a:srgbClr val="ffffff"/>
              </a:buClr>
              <a:buSzPct val="45000"/>
              <a:buFont typeface="Wingdings" charset="2"/>
              <a:buChar char=""/>
            </a:pPr>
            <a:r>
              <a:rPr lang="tr-TR" sz="2000" b="0" u="none" strike="noStrike">
                <a:solidFill>
                  <a:srgbClr val="ffffff"/>
                </a:solidFill>
                <a:effectLst/>
                <a:uFillTx/>
                <a:latin typeface="Arial"/>
                <a:ea typeface="DejaVu Sans"/>
              </a:rPr>
              <a:t>Kayıtlı müşterilere toplu mail, toplu sms gönderme,</a:t>
            </a:r>
            <a:endParaRPr lang="tr-TR" sz="2000" b="0" u="none" strike="noStrike">
              <a:solidFill>
                <a:srgbClr val="ffffff"/>
              </a:solidFill>
              <a:effectLst/>
              <a:uFillTx/>
              <a:latin typeface="Arial"/>
            </a:endParaRPr>
          </a:p>
          <a:p>
            <a:pPr marL="216000" indent="-216000">
              <a:lnSpc>
                <a:spcPct val="100000"/>
              </a:lnSpc>
              <a:buClr>
                <a:srgbClr val="ffffff"/>
              </a:buClr>
              <a:buSzPct val="45000"/>
              <a:buFont typeface="Wingdings" charset="2"/>
              <a:buChar char=""/>
            </a:pPr>
            <a:r>
              <a:rPr lang="tr-TR" sz="2000" b="0" u="none" strike="noStrike">
                <a:solidFill>
                  <a:srgbClr val="ffffff"/>
                </a:solidFill>
                <a:effectLst/>
                <a:uFillTx/>
                <a:latin typeface="Arial"/>
                <a:ea typeface="DejaVu Sans"/>
              </a:rPr>
              <a:t>Müşteri içe aktarma/dışa aktarma,</a:t>
            </a:r>
            <a:endParaRPr lang="tr-TR" sz="2000" b="0" u="none" strike="noStrike">
              <a:solidFill>
                <a:srgbClr val="ffffff"/>
              </a:solidFill>
              <a:effectLst/>
              <a:uFillTx/>
              <a:latin typeface="Arial"/>
            </a:endParaRPr>
          </a:p>
          <a:p>
            <a:pPr>
              <a:lnSpc>
                <a:spcPct val="100000"/>
              </a:lnSpc>
            </a:pPr>
            <a:r>
              <a:rPr lang="tr-TR" sz="2000" b="0" u="none" strike="noStrike">
                <a:solidFill>
                  <a:srgbClr val="ffffff"/>
                </a:solidFill>
                <a:effectLst/>
                <a:uFillTx/>
                <a:latin typeface="Arial"/>
                <a:ea typeface="DejaVu Sans"/>
              </a:rPr>
              <a:t>gibi geliştirmeler yapılabilir. </a:t>
            </a:r>
            <a:endParaRPr lang="tr-TR" sz="2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69" name=""/>
          <p:cNvSpPr/>
          <p:nvPr/>
        </p:nvSpPr>
        <p:spPr>
          <a:xfrm>
            <a:off x="1125720" y="180000"/>
            <a:ext cx="7828200" cy="57744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tr-TR" sz="3200" b="1" u="none" strike="noStrike">
                <a:solidFill>
                  <a:srgbClr val="38bdf8"/>
                </a:solidFill>
                <a:effectLst/>
                <a:uFillTx/>
                <a:latin typeface="Arial"/>
                <a:ea typeface="DejaVu Sans"/>
              </a:rPr>
              <a:t>KAYNAKÇA</a:t>
            </a:r>
            <a:endParaRPr lang="tr-TR" sz="3200" b="0" u="none" strike="noStrike">
              <a:solidFill>
                <a:srgbClr val="ffffff"/>
              </a:solidFill>
              <a:effectLst/>
              <a:uFillTx/>
              <a:latin typeface="Arial"/>
            </a:endParaRPr>
          </a:p>
        </p:txBody>
      </p:sp>
      <p:sp>
        <p:nvSpPr>
          <p:cNvPr id="70" name=""/>
          <p:cNvSpPr/>
          <p:nvPr/>
        </p:nvSpPr>
        <p:spPr>
          <a:xfrm>
            <a:off x="5544000" y="1440000"/>
            <a:ext cx="3330360" cy="393840"/>
          </a:xfrm>
          <a:prstGeom prst="rect">
            <a:avLst/>
          </a:prstGeom>
          <a:noFill/>
          <a:ln w="0">
            <a:noFill/>
          </a:ln>
        </p:spPr>
        <p:style>
          <a:lnRef idx="0"/>
          <a:fillRef idx="0"/>
          <a:effectRef idx="0"/>
          <a:fontRef idx="minor"/>
        </p:style>
        <p:txBody>
          <a:bodyPr lIns="90000" rIns="90000" tIns="45000" bIns="45000" anchor="t" anchorCtr="1">
            <a:spAutoFit/>
          </a:bodyPr>
          <a:p>
            <a:pPr>
              <a:lnSpc>
                <a:spcPct val="100000"/>
              </a:lnSpc>
            </a:pPr>
            <a:endParaRPr lang="tr-TR" sz="1800" b="0" u="none" strike="noStrike">
              <a:solidFill>
                <a:srgbClr val="ffffff"/>
              </a:solidFill>
              <a:effectLst/>
              <a:uFillTx/>
              <a:latin typeface="Arial"/>
              <a:ea typeface="DejaVu Sans"/>
            </a:endParaRPr>
          </a:p>
        </p:txBody>
      </p:sp>
      <p:sp>
        <p:nvSpPr>
          <p:cNvPr id="71" name=""/>
          <p:cNvSpPr/>
          <p:nvPr/>
        </p:nvSpPr>
        <p:spPr>
          <a:xfrm>
            <a:off x="360000" y="1082160"/>
            <a:ext cx="9359280" cy="4053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tr-TR" sz="2000" b="0" u="none" strike="noStrike">
                <a:solidFill>
                  <a:srgbClr val="ffffff"/>
                </a:solidFill>
                <a:effectLst/>
                <a:uFillTx/>
                <a:latin typeface="Arial"/>
                <a:ea typeface="DejaVu Sans"/>
              </a:rPr>
              <a:t>    1) Laravel, Laravel Framework Resmi Dokümantasyonu, https://laravel.com/docs, 2026. </a:t>
            </a:r>
            <a:endParaRPr lang="tr-TR" sz="2000" b="0" u="none" strike="noStrike">
              <a:solidFill>
                <a:srgbClr val="ffffff"/>
              </a:solidFill>
              <a:effectLst/>
              <a:uFillTx/>
              <a:latin typeface="Arial"/>
            </a:endParaRPr>
          </a:p>
          <a:p>
            <a:pPr>
              <a:lnSpc>
                <a:spcPct val="100000"/>
              </a:lnSpc>
            </a:pPr>
            <a:r>
              <a:rPr lang="tr-TR" sz="2000" b="0" u="none" strike="noStrike">
                <a:solidFill>
                  <a:srgbClr val="ffffff"/>
                </a:solidFill>
                <a:effectLst/>
                <a:uFillTx/>
                <a:latin typeface="Arial"/>
                <a:ea typeface="DejaVu Sans"/>
              </a:rPr>
              <a:t>    2) Bootstrap, Bootstrap Resmi Dokümantasyonu, https://getbootstrap.com/docs, 2026. </a:t>
            </a:r>
            <a:endParaRPr lang="tr-TR" sz="2000" b="0" u="none" strike="noStrike">
              <a:solidFill>
                <a:srgbClr val="ffffff"/>
              </a:solidFill>
              <a:effectLst/>
              <a:uFillTx/>
              <a:latin typeface="Arial"/>
            </a:endParaRPr>
          </a:p>
          <a:p>
            <a:pPr>
              <a:lnSpc>
                <a:spcPct val="100000"/>
              </a:lnSpc>
            </a:pPr>
            <a:r>
              <a:rPr lang="tr-TR" sz="2000" b="0" u="none" strike="noStrike">
                <a:solidFill>
                  <a:srgbClr val="ffffff"/>
                </a:solidFill>
                <a:effectLst/>
                <a:uFillTx/>
                <a:latin typeface="Arial"/>
                <a:ea typeface="DejaVu Sans"/>
              </a:rPr>
              <a:t>    3) PHP, PHP Resmi Dokümantasyonu, https://www.php.net/docs.php, 2026. </a:t>
            </a:r>
            <a:endParaRPr lang="tr-TR" sz="2000" b="0" u="none" strike="noStrike">
              <a:solidFill>
                <a:srgbClr val="ffffff"/>
              </a:solidFill>
              <a:effectLst/>
              <a:uFillTx/>
              <a:latin typeface="Arial"/>
            </a:endParaRPr>
          </a:p>
          <a:p>
            <a:pPr>
              <a:lnSpc>
                <a:spcPct val="100000"/>
              </a:lnSpc>
            </a:pPr>
            <a:r>
              <a:rPr lang="tr-TR" sz="2000" b="0" u="none" strike="noStrike">
                <a:solidFill>
                  <a:srgbClr val="ffffff"/>
                </a:solidFill>
                <a:effectLst/>
                <a:uFillTx/>
                <a:latin typeface="Arial"/>
                <a:ea typeface="DejaVu Sans"/>
              </a:rPr>
              <a:t>    4) Composer, Composer PHP Paket Yöneticisi, https://getcomposer.org, 2026. </a:t>
            </a:r>
            <a:endParaRPr lang="tr-TR" sz="2000" b="0" u="none" strike="noStrike">
              <a:solidFill>
                <a:srgbClr val="ffffff"/>
              </a:solidFill>
              <a:effectLst/>
              <a:uFillTx/>
              <a:latin typeface="Arial"/>
            </a:endParaRPr>
          </a:p>
          <a:p>
            <a:pPr>
              <a:lnSpc>
                <a:spcPct val="100000"/>
              </a:lnSpc>
            </a:pPr>
            <a:r>
              <a:rPr lang="tr-TR" sz="2000" b="0" u="none" strike="noStrike">
                <a:solidFill>
                  <a:srgbClr val="ffffff"/>
                </a:solidFill>
                <a:effectLst/>
                <a:uFillTx/>
                <a:latin typeface="Arial"/>
                <a:ea typeface="DejaVu Sans"/>
              </a:rPr>
              <a:t>    5) Stack Overflow, Geliştirici Topluluk Forumu, https://stackoverflow.com, 2026. </a:t>
            </a:r>
            <a:endParaRPr lang="tr-TR" sz="2000" b="0" u="none" strike="noStrike">
              <a:solidFill>
                <a:srgbClr val="ffffff"/>
              </a:solidFill>
              <a:effectLst/>
              <a:uFillTx/>
              <a:latin typeface="Arial"/>
            </a:endParaRPr>
          </a:p>
          <a:p>
            <a:pPr>
              <a:lnSpc>
                <a:spcPct val="100000"/>
              </a:lnSpc>
            </a:pPr>
            <a:r>
              <a:rPr lang="tr-TR" sz="2000" b="0" u="none" strike="noStrike">
                <a:solidFill>
                  <a:srgbClr val="ffffff"/>
                </a:solidFill>
                <a:effectLst/>
                <a:uFillTx/>
                <a:latin typeface="Arial"/>
                <a:ea typeface="DejaVu Sans"/>
              </a:rPr>
              <a:t>    6) PayTR, PayTR Geliştirici Merkezi, https://dev.paytr.com, 2026. </a:t>
            </a:r>
            <a:endParaRPr lang="tr-TR" sz="2000" b="0" u="none" strike="noStrike">
              <a:solidFill>
                <a:srgbClr val="ffffff"/>
              </a:solidFill>
              <a:effectLst/>
              <a:uFillTx/>
              <a:latin typeface="Arial"/>
            </a:endParaRPr>
          </a:p>
          <a:p>
            <a:pPr>
              <a:lnSpc>
                <a:spcPct val="100000"/>
              </a:lnSpc>
            </a:pPr>
            <a:r>
              <a:rPr lang="tr-TR" sz="2000" b="0" u="none" strike="noStrike">
                <a:solidFill>
                  <a:srgbClr val="ffffff"/>
                </a:solidFill>
                <a:effectLst/>
                <a:uFillTx/>
                <a:latin typeface="Arial"/>
                <a:ea typeface="DejaVu Sans"/>
              </a:rPr>
              <a:t>    7) Stripe, Stripe Geliştirici Dokümantasyonu, https://stripe.com/docs, 2026. </a:t>
            </a:r>
            <a:endParaRPr lang="tr-TR" sz="2000" b="0" u="none" strike="noStrike">
              <a:solidFill>
                <a:srgbClr val="ffffff"/>
              </a:solidFill>
              <a:effectLst/>
              <a:uFillTx/>
              <a:latin typeface="Arial"/>
            </a:endParaRPr>
          </a:p>
          <a:p>
            <a:pPr>
              <a:lnSpc>
                <a:spcPct val="100000"/>
              </a:lnSpc>
            </a:pPr>
            <a:r>
              <a:rPr lang="tr-TR" sz="2000" b="0" u="none" strike="noStrike">
                <a:solidFill>
                  <a:srgbClr val="ffffff"/>
                </a:solidFill>
                <a:effectLst/>
                <a:uFillTx/>
                <a:latin typeface="Arial"/>
                <a:ea typeface="DejaVu Sans"/>
              </a:rPr>
              <a:t>    8) R10, R10 Türkiye Yazılım ve Teknoloji Forumu, https://r10.net, 2026. </a:t>
            </a:r>
            <a:endParaRPr lang="tr-TR" sz="2000" b="0" u="none" strike="noStrike">
              <a:solidFill>
                <a:srgbClr val="ffffff"/>
              </a:solidFill>
              <a:effectLst/>
              <a:uFillTx/>
              <a:latin typeface="Arial"/>
            </a:endParaRPr>
          </a:p>
          <a:p>
            <a:pPr>
              <a:lnSpc>
                <a:spcPct val="100000"/>
              </a:lnSpc>
            </a:pPr>
            <a:r>
              <a:rPr lang="tr-TR" sz="2000" b="0" u="none" strike="noStrike">
                <a:solidFill>
                  <a:srgbClr val="ffffff"/>
                </a:solidFill>
                <a:effectLst/>
                <a:uFillTx/>
                <a:latin typeface="Arial"/>
                <a:ea typeface="DejaVu Sans"/>
              </a:rPr>
              <a:t>    9) Taşçı, O., Payment Facilitator Nedir?, https://oguzhantasci.com/blog/payment-facilitator-nedir.html, 2026. </a:t>
            </a:r>
            <a:endParaRPr lang="tr-TR" sz="2000" b="0" u="none" strike="noStrike">
              <a:solidFill>
                <a:srgbClr val="ffffff"/>
              </a:solidFill>
              <a:effectLst/>
              <a:uFillTx/>
              <a:latin typeface="Arial"/>
            </a:endParaRPr>
          </a:p>
          <a:p>
            <a:pPr>
              <a:lnSpc>
                <a:spcPct val="100000"/>
              </a:lnSpc>
            </a:pPr>
            <a:r>
              <a:rPr lang="tr-TR" sz="2000" b="0" u="none" strike="noStrike">
                <a:solidFill>
                  <a:srgbClr val="ffffff"/>
                </a:solidFill>
                <a:effectLst/>
                <a:uFillTx/>
                <a:latin typeface="Arial"/>
                <a:ea typeface="DejaVu Sans"/>
              </a:rPr>
              <a:t>    10)  Google, Gemini Yapay Zeka Asistanı, https://gemini.google.com, 2026. </a:t>
            </a:r>
            <a:endParaRPr lang="tr-TR" sz="2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72" name=""/>
          <p:cNvSpPr/>
          <p:nvPr/>
        </p:nvSpPr>
        <p:spPr>
          <a:xfrm>
            <a:off x="1125720" y="180000"/>
            <a:ext cx="7828200" cy="57744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tr-TR" sz="3200" b="1" u="none" strike="noStrike">
                <a:solidFill>
                  <a:srgbClr val="38bdf8"/>
                </a:solidFill>
                <a:effectLst/>
                <a:uFillTx/>
                <a:latin typeface="Arial"/>
                <a:ea typeface="DejaVu Sans"/>
              </a:rPr>
              <a:t>KAPANIŞ</a:t>
            </a:r>
            <a:endParaRPr lang="tr-TR" sz="3200" b="0" u="none" strike="noStrike">
              <a:solidFill>
                <a:srgbClr val="ffffff"/>
              </a:solidFill>
              <a:effectLst/>
              <a:uFillTx/>
              <a:latin typeface="Arial"/>
            </a:endParaRPr>
          </a:p>
        </p:txBody>
      </p:sp>
      <p:sp>
        <p:nvSpPr>
          <p:cNvPr id="73" name=""/>
          <p:cNvSpPr/>
          <p:nvPr/>
        </p:nvSpPr>
        <p:spPr>
          <a:xfrm>
            <a:off x="5544000" y="1440000"/>
            <a:ext cx="3330360" cy="393840"/>
          </a:xfrm>
          <a:prstGeom prst="rect">
            <a:avLst/>
          </a:prstGeom>
          <a:noFill/>
          <a:ln w="0">
            <a:noFill/>
          </a:ln>
        </p:spPr>
        <p:style>
          <a:lnRef idx="0"/>
          <a:fillRef idx="0"/>
          <a:effectRef idx="0"/>
          <a:fontRef idx="minor"/>
        </p:style>
        <p:txBody>
          <a:bodyPr lIns="90000" rIns="90000" tIns="45000" bIns="45000" anchor="t" anchorCtr="1">
            <a:spAutoFit/>
          </a:bodyPr>
          <a:p>
            <a:pPr>
              <a:lnSpc>
                <a:spcPct val="100000"/>
              </a:lnSpc>
            </a:pPr>
            <a:endParaRPr lang="tr-TR" sz="1800" b="0" u="none" strike="noStrike">
              <a:solidFill>
                <a:srgbClr val="ffffff"/>
              </a:solidFill>
              <a:effectLst/>
              <a:uFillTx/>
              <a:latin typeface="Arial"/>
              <a:ea typeface="DejaVu Sans"/>
            </a:endParaRPr>
          </a:p>
        </p:txBody>
      </p:sp>
      <p:sp>
        <p:nvSpPr>
          <p:cNvPr id="74" name=""/>
          <p:cNvSpPr/>
          <p:nvPr/>
        </p:nvSpPr>
        <p:spPr>
          <a:xfrm>
            <a:off x="1620000" y="1260000"/>
            <a:ext cx="6659280" cy="377928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spcBef>
                <a:spcPts val="1191"/>
              </a:spcBef>
              <a:spcAft>
                <a:spcPts val="992"/>
              </a:spcAft>
            </a:pPr>
            <a:r>
              <a:rPr lang="tr-TR" sz="2500" b="0" u="none" strike="noStrike">
                <a:solidFill>
                  <a:srgbClr val="ffffff"/>
                </a:solidFill>
                <a:effectLst/>
                <a:uFillTx/>
                <a:latin typeface="Arial"/>
                <a:ea typeface="DejaVu Sans"/>
              </a:rPr>
              <a:t>Proje sunumunu dinlediğiniz için teşekkürler.</a:t>
            </a:r>
            <a:endParaRPr lang="tr-TR" sz="2500" b="0" u="none" strike="noStrike">
              <a:solidFill>
                <a:srgbClr val="ffffff"/>
              </a:solidFill>
              <a:effectLst/>
              <a:uFillTx/>
              <a:latin typeface="Arial"/>
            </a:endParaRPr>
          </a:p>
          <a:p>
            <a:pPr algn="ctr">
              <a:lnSpc>
                <a:spcPct val="100000"/>
              </a:lnSpc>
              <a:spcBef>
                <a:spcPts val="1191"/>
              </a:spcBef>
              <a:spcAft>
                <a:spcPts val="992"/>
              </a:spcAft>
            </a:pPr>
            <a:endParaRPr lang="tr-TR" sz="2500" b="0" u="none" strike="noStrike">
              <a:solidFill>
                <a:srgbClr val="ffffff"/>
              </a:solidFill>
              <a:effectLst/>
              <a:uFillTx/>
              <a:latin typeface="Arial"/>
            </a:endParaRPr>
          </a:p>
          <a:p>
            <a:pPr algn="ctr">
              <a:lnSpc>
                <a:spcPct val="100000"/>
              </a:lnSpc>
              <a:spcBef>
                <a:spcPts val="1191"/>
              </a:spcBef>
              <a:spcAft>
                <a:spcPts val="992"/>
              </a:spcAft>
            </a:pPr>
            <a:r>
              <a:rPr lang="tr-TR" sz="2000" b="0" u="none" strike="noStrike">
                <a:solidFill>
                  <a:srgbClr val="ffffff"/>
                </a:solidFill>
                <a:effectLst/>
                <a:uFillTx/>
                <a:latin typeface="Arial"/>
                <a:ea typeface="DejaVu Sans"/>
              </a:rPr>
              <a:t>👤Gaffar Korkmaz</a:t>
            </a:r>
            <a:endParaRPr lang="tr-TR" sz="2000" b="0" u="none" strike="noStrike">
              <a:solidFill>
                <a:srgbClr val="ffffff"/>
              </a:solidFill>
              <a:effectLst/>
              <a:uFillTx/>
              <a:latin typeface="Arial"/>
            </a:endParaRPr>
          </a:p>
          <a:p>
            <a:pPr algn="ctr">
              <a:lnSpc>
                <a:spcPct val="100000"/>
              </a:lnSpc>
              <a:spcBef>
                <a:spcPts val="1191"/>
              </a:spcBef>
              <a:spcAft>
                <a:spcPts val="992"/>
              </a:spcAft>
            </a:pPr>
            <a:r>
              <a:rPr lang="tr-TR" sz="2500" b="0" u="none" strike="noStrike">
                <a:solidFill>
                  <a:srgbClr val="ffffff"/>
                </a:solidFill>
                <a:effectLst/>
                <a:uFillTx/>
                <a:latin typeface="Arial"/>
                <a:ea typeface="DejaVu Sans"/>
              </a:rPr>
              <a:t>✉️</a:t>
            </a:r>
            <a:r>
              <a:rPr lang="tr-TR" sz="2000" b="0" u="none" strike="noStrike">
                <a:solidFill>
                  <a:srgbClr val="ffffff"/>
                </a:solidFill>
                <a:effectLst/>
                <a:uFillTx/>
                <a:latin typeface="Arial"/>
                <a:ea typeface="DejaVu Sans"/>
              </a:rPr>
              <a:t>gaffarkorkmaz207@gmail.com</a:t>
            </a:r>
            <a:endParaRPr lang="tr-TR" sz="2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349</TotalTime>
  <Application>LibreOffice/25.8.6.2$Windows_X86_64 LibreOffice_project/b4b39682cd9868fa725bc664aff94278d315bd04</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2026-05-13T00:10:56Z</dcterms:created>
  <dc:creator/>
  <dc:description/>
  <dc:language>tr-TR</dc:language>
  <cp:lastModifiedBy/>
  <dcterms:modified xsi:type="dcterms:W3CDTF">2026-06-11T20:06:35Z</dcterms:modified>
  <cp:revision>11</cp:revision>
  <dc:subject/>
  <dc:title/>
</cp:coreProperties>
</file>

<file path=docProps/custom.xml><?xml version="1.0" encoding="utf-8"?>
<Properties xmlns="http://schemas.openxmlformats.org/officeDocument/2006/custom-properties" xmlns:vt="http://schemas.openxmlformats.org/officeDocument/2006/docPropsVTypes"/>
</file>